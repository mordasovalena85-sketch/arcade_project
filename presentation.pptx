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59" r:id="rId6"/>
    <p:sldId id="260" r:id="rId7"/>
    <p:sldId id="267" r:id="rId8"/>
    <p:sldId id="263" r:id="rId9"/>
    <p:sldId id="262" r:id="rId10"/>
    <p:sldId id="264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8A8A"/>
    <a:srgbClr val="D4D4D4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7" autoAdjust="0"/>
    <p:restoredTop sz="94660"/>
  </p:normalViewPr>
  <p:slideViewPr>
    <p:cSldViewPr snapToGrid="0">
      <p:cViewPr varScale="1">
        <p:scale>
          <a:sx n="82" d="100"/>
          <a:sy n="82" d="100"/>
        </p:scale>
        <p:origin x="9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29659-60FA-4FA1-93F4-5AAE1A7F3EA9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7C983-5960-423A-BF23-6A97EFCA2F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797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F7C983-5960-423A-BF23-6A97EFCA2F5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792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4CE25-9B9F-AC7B-2434-0C2EDE116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B87651-DAC1-BA25-1041-EA030A239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A15CA0-C456-1B3D-E7C2-6F2224AD7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DE56A-AC33-486F-A9AA-D6EA57087AC7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B421C9-EAC6-6C6D-BD9C-BD16E822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C73259-D3D5-157C-7193-BAEA8C50E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42EC8-336B-4A8E-8E7E-0F328EFA5F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159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280E6-0A1E-3F16-5EDB-A5821466C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6F121-116E-13D5-ADFA-FB91F2667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6C2A10-16D6-2530-E00F-3A763AD8C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DE56A-AC33-486F-A9AA-D6EA57087AC7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FBDC4D-E759-8729-BDF0-D8641634F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937A2A-3E30-BBFD-29AC-52B6C7DE3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42EC8-336B-4A8E-8E7E-0F328EFA5F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719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216F94-C843-87F0-DF27-7505522BB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0557BE-7578-3DDC-43EB-EFA2FAD95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7CC248-5A53-3E11-3C7B-770B4A2DA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DE56A-AC33-486F-A9AA-D6EA57087AC7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191FC8-C146-9969-BBB5-318D700B3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97D14B-EA89-AF36-4CE1-9A71C2C4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42EC8-336B-4A8E-8E7E-0F328EFA5F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495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7DF954-8FFA-196C-E300-DB9D25F25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19B0E7-91ED-4166-8ABB-AE8C8F693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2DDC8F6-4442-31AD-408B-0A312E58C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D125AD-C1F3-BE79-705A-F8BC3B99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DE56A-AC33-486F-A9AA-D6EA57087AC7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4702DB-9C79-D174-2BDB-3FB3A5A2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BD61AE-328B-A9CA-485F-601A7050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42EC8-336B-4A8E-8E7E-0F328EFA5F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434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448601-7ACD-3D5E-655B-DC0E9C24B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DE0868-B1B8-4EF3-9B2A-BCB48727F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820894-1A8D-5AD3-6049-00067414A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B8A65A1-8465-FDA4-7E08-71A2A32C1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316D6B-E458-97CB-9805-0B7BD8E0B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7DD2D4F-FCB1-2231-15ED-64FBE2670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DE56A-AC33-486F-A9AA-D6EA57087AC7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3160981-F8DF-A7B3-88C9-AAF87C515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CDFB194-932E-3938-2AAE-8BCB78A3C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42EC8-336B-4A8E-8E7E-0F328EFA5F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780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5D999B-31D8-E7ED-C392-1429FF19C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A9DE3E3-D08B-B867-7908-D19796FA1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DE56A-AC33-486F-A9AA-D6EA57087AC7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4FB196E-674E-B39D-3F9B-6D7259C35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9CD5F9-1B6A-C978-5649-D510F15A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42EC8-336B-4A8E-8E7E-0F328EFA5F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106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9240F5A-CA6B-AB84-F6E8-93903EFD8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DE56A-AC33-486F-A9AA-D6EA57087AC7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547D2D-669B-3687-0DB4-8A93CC25D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042676-3356-F6A4-2539-6B034D49E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42EC8-336B-4A8E-8E7E-0F328EFA5F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490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C465C-560F-7FB1-6918-ABF2167F1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91CBB-23CE-C458-E25F-16D4C0B99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DEB271-366D-7811-76A6-2718BF353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49830F-DA9F-3F84-998F-69119A67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DE56A-AC33-486F-A9AA-D6EA57087AC7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E183C3-0125-A63F-485D-0CB8E57C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6687B7-A8BA-B605-7FDC-1F3115F3F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42EC8-336B-4A8E-8E7E-0F328EFA5F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054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277036-E766-9CE7-E42C-74EB701AB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0A8D49F-D6BA-736D-A65A-8F23CB609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BF9760-BF5B-A2A3-C2F0-181459DF0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57C088F-A044-2DBD-BE5C-A3CE7472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DE56A-AC33-486F-A9AA-D6EA57087AC7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C62652-8A2E-6E81-E1E8-38EFC9559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8156259-037F-B4D2-5D20-012635D3C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42EC8-336B-4A8E-8E7E-0F328EFA5F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105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648D1-6D29-C3D0-6E62-E948E8BBF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C4DDAD-A5FC-E74B-0817-A2F45F149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DFE43D-693A-CC7A-0F02-AC1ABE14C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DE56A-AC33-486F-A9AA-D6EA57087AC7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B3CAC7-02B0-EFF1-332C-EEFBA9F0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2D529F-83A2-34D0-F61C-9DEF237E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42EC8-336B-4A8E-8E7E-0F328EFA5F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933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1E8E54-EF00-A0F8-4E0F-56F8A0828B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B81196-A5AC-E453-BAB5-577B65DAC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8EA1BC-1FF1-3D7C-0C59-4FFF3496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DE56A-AC33-486F-A9AA-D6EA57087AC7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E70797-DA9C-9B04-BE9E-F7469F578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B34690-4DE3-148A-3CC7-0633E166A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42EC8-336B-4A8E-8E7E-0F328EFA5F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829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12629-9AA6-B317-1A65-0CE7AC406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43C70D-BDDA-C1ED-88E5-EF4420AEE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662CF3-89BB-ED01-28B0-4D7492167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DE56A-AC33-486F-A9AA-D6EA57087AC7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7D1E90-B36A-A67A-7565-34F40295C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803EDB-B93F-78B8-3213-1C279F9FA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42EC8-336B-4A8E-8E7E-0F328EFA5F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504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29C92E79-7E01-86B5-C09C-88F791160F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6" b="8154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63DB66-93C9-154D-9301-4EC67A7A0B4C}"/>
              </a:ext>
            </a:extLst>
          </p:cNvPr>
          <p:cNvSpPr/>
          <p:nvPr/>
        </p:nvSpPr>
        <p:spPr>
          <a:xfrm>
            <a:off x="-2" y="0"/>
            <a:ext cx="12192000" cy="6857999"/>
          </a:xfrm>
          <a:prstGeom prst="rect">
            <a:avLst/>
          </a:prstGeom>
          <a:solidFill>
            <a:schemeClr val="bg1">
              <a:alpha val="4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FE1E42-152E-B0BD-2A89-BDF3FE1F4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723" y="1288453"/>
            <a:ext cx="8358553" cy="21405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2FDA8A-BB4B-9D18-E492-9604520874E9}"/>
              </a:ext>
            </a:extLst>
          </p:cNvPr>
          <p:cNvSpPr txBox="1"/>
          <p:nvPr/>
        </p:nvSpPr>
        <p:spPr>
          <a:xfrm>
            <a:off x="3633860" y="3524744"/>
            <a:ext cx="4924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Minecraft" panose="00000400000000000000" pitchFamily="2" charset="0"/>
              </a:rPr>
              <a:t>Проект по </a:t>
            </a:r>
            <a:r>
              <a:rPr lang="en-US" sz="3200" dirty="0">
                <a:latin typeface="Minecraft" panose="00000400000000000000" pitchFamily="2" charset="0"/>
              </a:rPr>
              <a:t>Arcade</a:t>
            </a:r>
            <a:endParaRPr lang="ru-RU" sz="3200" dirty="0">
              <a:latin typeface="Minecraft" panose="000004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D35CBE-C0B9-8333-39A7-74DA9E97D4E0}"/>
              </a:ext>
            </a:extLst>
          </p:cNvPr>
          <p:cNvSpPr txBox="1"/>
          <p:nvPr/>
        </p:nvSpPr>
        <p:spPr>
          <a:xfrm>
            <a:off x="5350998" y="6179576"/>
            <a:ext cx="4924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Minecraft" panose="00000400000000000000" pitchFamily="2" charset="0"/>
              </a:rPr>
              <a:t>11.02.2026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219E3B-CA2C-FD62-A386-B38722EE9D21}"/>
              </a:ext>
            </a:extLst>
          </p:cNvPr>
          <p:cNvSpPr txBox="1"/>
          <p:nvPr/>
        </p:nvSpPr>
        <p:spPr>
          <a:xfrm>
            <a:off x="426720" y="4700934"/>
            <a:ext cx="4924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inecraft" panose="00000400000000000000" pitchFamily="2" charset="0"/>
              </a:rPr>
              <a:t>Подготовили</a:t>
            </a:r>
            <a:r>
              <a:rPr lang="en-US" sz="2400" dirty="0">
                <a:latin typeface="Minecraft" panose="00000400000000000000" pitchFamily="2" charset="0"/>
              </a:rPr>
              <a:t>: </a:t>
            </a:r>
            <a:r>
              <a:rPr lang="ru-RU" sz="2400" dirty="0">
                <a:latin typeface="Minecraft" panose="00000400000000000000" pitchFamily="2" charset="0"/>
              </a:rPr>
              <a:t>Мордасова Елена и Лукина Варвара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BC46495-D013-12F6-4E2D-A4163DBA3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6038" y="3958591"/>
            <a:ext cx="2186368" cy="2685013"/>
          </a:xfrm>
          <a:prstGeom prst="rect">
            <a:avLst/>
          </a:prstGeom>
        </p:spPr>
      </p:pic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67F0C031-0A48-5319-C5DE-802778124645}"/>
              </a:ext>
            </a:extLst>
          </p:cNvPr>
          <p:cNvGrpSpPr/>
          <p:nvPr/>
        </p:nvGrpSpPr>
        <p:grpSpPr>
          <a:xfrm>
            <a:off x="-1" y="0"/>
            <a:ext cx="12192000" cy="697038"/>
            <a:chOff x="0" y="0"/>
            <a:chExt cx="12192000" cy="697038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36E4959-D443-B558-623D-F7681130719E}"/>
                </a:ext>
              </a:extLst>
            </p:cNvPr>
            <p:cNvSpPr/>
            <p:nvPr/>
          </p:nvSpPr>
          <p:spPr>
            <a:xfrm>
              <a:off x="0" y="0"/>
              <a:ext cx="12192000" cy="697038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9" name="Picture 8" descr="Picture background">
              <a:extLst>
                <a:ext uri="{FF2B5EF4-FFF2-40B4-BE49-F238E27FC236}">
                  <a16:creationId xmlns:a16="http://schemas.microsoft.com/office/drawing/2014/main" id="{ABFE737E-84AF-A51F-1450-80558226D6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97" t="7618" r="8487" b="7687"/>
            <a:stretch>
              <a:fillRect/>
            </a:stretch>
          </p:blipFill>
          <p:spPr bwMode="auto">
            <a:xfrm>
              <a:off x="11629891" y="121101"/>
              <a:ext cx="412515" cy="4554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0" name="Группа 29">
              <a:extLst>
                <a:ext uri="{FF2B5EF4-FFF2-40B4-BE49-F238E27FC236}">
                  <a16:creationId xmlns:a16="http://schemas.microsoft.com/office/drawing/2014/main" id="{FCC5CBD1-56CD-1375-0EF3-7866993CD53D}"/>
                </a:ext>
              </a:extLst>
            </p:cNvPr>
            <p:cNvGrpSpPr/>
            <p:nvPr/>
          </p:nvGrpSpPr>
          <p:grpSpPr>
            <a:xfrm>
              <a:off x="9980681" y="121101"/>
              <a:ext cx="1499616" cy="455423"/>
              <a:chOff x="9980681" y="121101"/>
              <a:chExt cx="1499616" cy="455423"/>
            </a:xfrm>
          </p:grpSpPr>
          <p:sp>
            <p:nvSpPr>
              <p:cNvPr id="44" name="Прямоугольник: скругленные углы 43">
                <a:extLst>
                  <a:ext uri="{FF2B5EF4-FFF2-40B4-BE49-F238E27FC236}">
                    <a16:creationId xmlns:a16="http://schemas.microsoft.com/office/drawing/2014/main" id="{37861D1A-01E6-C563-E6E0-436848F80AD9}"/>
                  </a:ext>
                </a:extLst>
              </p:cNvPr>
              <p:cNvSpPr/>
              <p:nvPr/>
            </p:nvSpPr>
            <p:spPr>
              <a:xfrm>
                <a:off x="9980681" y="1211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5BD67EF-FD3D-47F9-E133-C832BE09EB78}"/>
                  </a:ext>
                </a:extLst>
              </p:cNvPr>
              <p:cNvSpPr txBox="1"/>
              <p:nvPr/>
            </p:nvSpPr>
            <p:spPr>
              <a:xfrm>
                <a:off x="10200943" y="16360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Вывод</a:t>
                </a:r>
              </a:p>
            </p:txBody>
          </p:sp>
        </p:grpSp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2C513FA1-74CF-B85D-DBEE-11B3C3ABA0E1}"/>
                </a:ext>
              </a:extLst>
            </p:cNvPr>
            <p:cNvGrpSpPr/>
            <p:nvPr/>
          </p:nvGrpSpPr>
          <p:grpSpPr>
            <a:xfrm>
              <a:off x="3426202" y="118800"/>
              <a:ext cx="1681850" cy="455423"/>
              <a:chOff x="3426202" y="118800"/>
              <a:chExt cx="1681850" cy="455423"/>
            </a:xfrm>
          </p:grpSpPr>
          <p:sp>
            <p:nvSpPr>
              <p:cNvPr id="42" name="Прямоугольник: скругленные углы 41">
                <a:extLst>
                  <a:ext uri="{FF2B5EF4-FFF2-40B4-BE49-F238E27FC236}">
                    <a16:creationId xmlns:a16="http://schemas.microsoft.com/office/drawing/2014/main" id="{19790A3F-D89B-CC62-B6F5-2C4648FF2A1F}"/>
                  </a:ext>
                </a:extLst>
              </p:cNvPr>
              <p:cNvSpPr/>
              <p:nvPr/>
            </p:nvSpPr>
            <p:spPr>
              <a:xfrm>
                <a:off x="3440324" y="118800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/>
              </a:solidFill>
              <a:ln w="25400">
                <a:solidFill>
                  <a:srgbClr val="8A8A8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AF76C24-828A-A6B2-753A-78EA0CD7F078}"/>
                  </a:ext>
                </a:extLst>
              </p:cNvPr>
              <p:cNvSpPr txBox="1"/>
              <p:nvPr/>
            </p:nvSpPr>
            <p:spPr>
              <a:xfrm>
                <a:off x="3426202" y="171900"/>
                <a:ext cx="1681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Введение</a:t>
                </a:r>
              </a:p>
            </p:txBody>
          </p:sp>
        </p:grpSp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EE504115-D1D1-57B7-3B63-9CE6AF498CB6}"/>
                </a:ext>
              </a:extLst>
            </p:cNvPr>
            <p:cNvGrpSpPr/>
            <p:nvPr/>
          </p:nvGrpSpPr>
          <p:grpSpPr>
            <a:xfrm>
              <a:off x="6710502" y="120807"/>
              <a:ext cx="1584404" cy="455423"/>
              <a:chOff x="6710502" y="120807"/>
              <a:chExt cx="1584404" cy="455423"/>
            </a:xfrm>
          </p:grpSpPr>
          <p:sp>
            <p:nvSpPr>
              <p:cNvPr id="40" name="Прямоугольник: скругленные углы 39">
                <a:extLst>
                  <a:ext uri="{FF2B5EF4-FFF2-40B4-BE49-F238E27FC236}">
                    <a16:creationId xmlns:a16="http://schemas.microsoft.com/office/drawing/2014/main" id="{D929F43D-76DF-F535-EBA9-368861E440D0}"/>
                  </a:ext>
                </a:extLst>
              </p:cNvPr>
              <p:cNvSpPr/>
              <p:nvPr/>
            </p:nvSpPr>
            <p:spPr>
              <a:xfrm>
                <a:off x="6710502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5C94FEC-7F9A-5CBA-120D-B8BBD3BB96B2}"/>
                  </a:ext>
                </a:extLst>
              </p:cNvPr>
              <p:cNvSpPr txBox="1"/>
              <p:nvPr/>
            </p:nvSpPr>
            <p:spPr>
              <a:xfrm>
                <a:off x="6795291" y="143041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Функции</a:t>
                </a:r>
              </a:p>
            </p:txBody>
          </p:sp>
        </p:grpSp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310D347E-96DC-D3AC-B3A8-83B6D2D2E977}"/>
                </a:ext>
              </a:extLst>
            </p:cNvPr>
            <p:cNvGrpSpPr/>
            <p:nvPr/>
          </p:nvGrpSpPr>
          <p:grpSpPr>
            <a:xfrm>
              <a:off x="5075413" y="118801"/>
              <a:ext cx="1524958" cy="455423"/>
              <a:chOff x="5075413" y="118801"/>
              <a:chExt cx="1524958" cy="455423"/>
            </a:xfrm>
          </p:grpSpPr>
          <p:sp>
            <p:nvSpPr>
              <p:cNvPr id="38" name="Прямоугольник: скругленные углы 37">
                <a:extLst>
                  <a:ext uri="{FF2B5EF4-FFF2-40B4-BE49-F238E27FC236}">
                    <a16:creationId xmlns:a16="http://schemas.microsoft.com/office/drawing/2014/main" id="{F8A30547-4D6E-5CEF-B62E-7DA08A87FA93}"/>
                  </a:ext>
                </a:extLst>
              </p:cNvPr>
              <p:cNvSpPr/>
              <p:nvPr/>
            </p:nvSpPr>
            <p:spPr>
              <a:xfrm>
                <a:off x="5075413" y="1188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BF1A552-9D86-2B98-E582-0CC19F0805E4}"/>
                  </a:ext>
                </a:extLst>
              </p:cNvPr>
              <p:cNvSpPr txBox="1"/>
              <p:nvPr/>
            </p:nvSpPr>
            <p:spPr>
              <a:xfrm>
                <a:off x="5393363" y="14304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Окна</a:t>
                </a:r>
              </a:p>
            </p:txBody>
          </p:sp>
        </p:grpSp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321268C2-7730-1CD5-049C-51B11E582CBB}"/>
                </a:ext>
              </a:extLst>
            </p:cNvPr>
            <p:cNvGrpSpPr/>
            <p:nvPr/>
          </p:nvGrpSpPr>
          <p:grpSpPr>
            <a:xfrm>
              <a:off x="8345591" y="120807"/>
              <a:ext cx="1676011" cy="455423"/>
              <a:chOff x="8345591" y="120807"/>
              <a:chExt cx="1676011" cy="455423"/>
            </a:xfrm>
          </p:grpSpPr>
          <p:sp>
            <p:nvSpPr>
              <p:cNvPr id="36" name="Прямоугольник: скругленные углы 35">
                <a:extLst>
                  <a:ext uri="{FF2B5EF4-FFF2-40B4-BE49-F238E27FC236}">
                    <a16:creationId xmlns:a16="http://schemas.microsoft.com/office/drawing/2014/main" id="{24588F82-DF70-095D-75B9-E900ED5F7E7D}"/>
                  </a:ext>
                </a:extLst>
              </p:cNvPr>
              <p:cNvSpPr/>
              <p:nvPr/>
            </p:nvSpPr>
            <p:spPr>
              <a:xfrm>
                <a:off x="8345591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792FBBB-C529-94A3-62AB-8E8F1DFAAFF9}"/>
                  </a:ext>
                </a:extLst>
              </p:cNvPr>
              <p:cNvSpPr txBox="1"/>
              <p:nvPr/>
            </p:nvSpPr>
            <p:spPr>
              <a:xfrm>
                <a:off x="8521987" y="161845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Файлы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7585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D3AF-5664-F6E4-D78F-657808027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B49868-5DEE-A059-6A0A-FD082EBF090E}"/>
              </a:ext>
            </a:extLst>
          </p:cNvPr>
          <p:cNvSpPr txBox="1"/>
          <p:nvPr/>
        </p:nvSpPr>
        <p:spPr>
          <a:xfrm>
            <a:off x="520033" y="809790"/>
            <a:ext cx="4924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Minecraft" panose="00000400000000000000" pitchFamily="2" charset="0"/>
              </a:rPr>
              <a:t>Название</a:t>
            </a:r>
            <a:r>
              <a:rPr lang="en-US" sz="2800" dirty="0">
                <a:latin typeface="Minecraft" panose="00000400000000000000" pitchFamily="2" charset="0"/>
              </a:rPr>
              <a:t>:</a:t>
            </a:r>
            <a:endParaRPr lang="ru-RU" sz="2800" dirty="0">
              <a:latin typeface="Minecraft" panose="000004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ED18AD-6AE7-066C-A1C2-D6D668C08D86}"/>
              </a:ext>
            </a:extLst>
          </p:cNvPr>
          <p:cNvSpPr txBox="1"/>
          <p:nvPr/>
        </p:nvSpPr>
        <p:spPr>
          <a:xfrm>
            <a:off x="520033" y="2233810"/>
            <a:ext cx="4924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>
                <a:latin typeface="Minecraft" panose="00000400000000000000" pitchFamily="2" charset="0"/>
              </a:rPr>
              <a:t>Цель</a:t>
            </a:r>
            <a:r>
              <a:rPr lang="en-US" sz="2800">
                <a:latin typeface="Minecraft" panose="00000400000000000000" pitchFamily="2" charset="0"/>
              </a:rPr>
              <a:t>:</a:t>
            </a:r>
            <a:endParaRPr lang="ru-RU" sz="2800" dirty="0">
              <a:latin typeface="Minecraft" panose="000004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3F3422-5097-C8DF-21FC-D3E764E75C1E}"/>
              </a:ext>
            </a:extLst>
          </p:cNvPr>
          <p:cNvSpPr txBox="1"/>
          <p:nvPr/>
        </p:nvSpPr>
        <p:spPr>
          <a:xfrm>
            <a:off x="520033" y="3657830"/>
            <a:ext cx="4924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Minecraft" panose="00000400000000000000" pitchFamily="2" charset="0"/>
              </a:rPr>
              <a:t>Целевая аудитория</a:t>
            </a:r>
            <a:r>
              <a:rPr lang="en-US" sz="2800" dirty="0">
                <a:latin typeface="Minecraft" panose="00000400000000000000" pitchFamily="2" charset="0"/>
              </a:rPr>
              <a:t>:</a:t>
            </a:r>
            <a:endParaRPr lang="ru-RU" sz="2800" dirty="0">
              <a:latin typeface="Minecraft" panose="000004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8712F5-EB8B-47F3-2DF4-FADF521A2C51}"/>
              </a:ext>
            </a:extLst>
          </p:cNvPr>
          <p:cNvSpPr txBox="1"/>
          <p:nvPr/>
        </p:nvSpPr>
        <p:spPr>
          <a:xfrm>
            <a:off x="520033" y="5081850"/>
            <a:ext cx="66548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Minecraft" panose="00000400000000000000" pitchFamily="2" charset="0"/>
              </a:rPr>
              <a:t>Используемые технологии</a:t>
            </a:r>
            <a:r>
              <a:rPr lang="en-US" sz="2800" dirty="0">
                <a:latin typeface="Minecraft" panose="00000400000000000000" pitchFamily="2" charset="0"/>
              </a:rPr>
              <a:t>:</a:t>
            </a:r>
            <a:endParaRPr lang="ru-RU" sz="2800" dirty="0">
              <a:latin typeface="Minecraft" panose="000004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70B95D-F8E9-3225-6E9E-31369FC7133A}"/>
              </a:ext>
            </a:extLst>
          </p:cNvPr>
          <p:cNvSpPr txBox="1"/>
          <p:nvPr/>
        </p:nvSpPr>
        <p:spPr>
          <a:xfrm>
            <a:off x="477956" y="2836036"/>
            <a:ext cx="1115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Создание упрощенной версии </a:t>
            </a:r>
            <a:r>
              <a:rPr lang="ru-RU" sz="2400" dirty="0" err="1">
                <a:latin typeface="Montserrat" panose="00000500000000000000" pitchFamily="2" charset="-52"/>
              </a:rPr>
              <a:t>Minecraft</a:t>
            </a:r>
            <a:r>
              <a:rPr lang="ru-RU" sz="2400" dirty="0">
                <a:latin typeface="Montserrat" panose="00000500000000000000" pitchFamily="2" charset="-52"/>
              </a:rPr>
              <a:t> с основными механиками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915263-C9FA-0880-6328-B7C7E1818CC5}"/>
              </a:ext>
            </a:extLst>
          </p:cNvPr>
          <p:cNvSpPr txBox="1"/>
          <p:nvPr/>
        </p:nvSpPr>
        <p:spPr>
          <a:xfrm>
            <a:off x="520033" y="1417171"/>
            <a:ext cx="7221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ontserrat" panose="00000500000000000000" pitchFamily="2" charset="-52"/>
              </a:rPr>
              <a:t>"2D Minecraft </a:t>
            </a:r>
            <a:r>
              <a:rPr lang="ru-RU" sz="2400" dirty="0">
                <a:latin typeface="Montserrat" panose="00000500000000000000" pitchFamily="2" charset="-52"/>
              </a:rPr>
              <a:t>на </a:t>
            </a:r>
            <a:r>
              <a:rPr lang="en-US" sz="2400" dirty="0">
                <a:latin typeface="Montserrat" panose="00000500000000000000" pitchFamily="2" charset="-52"/>
              </a:rPr>
              <a:t>Python"</a:t>
            </a:r>
            <a:endParaRPr lang="ru-RU" sz="2400" dirty="0">
              <a:latin typeface="Montserrat" panose="00000500000000000000" pitchFamily="2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D54733-00B3-39F9-FCD1-5BB00E0A1B8C}"/>
              </a:ext>
            </a:extLst>
          </p:cNvPr>
          <p:cNvSpPr txBox="1"/>
          <p:nvPr/>
        </p:nvSpPr>
        <p:spPr>
          <a:xfrm>
            <a:off x="450043" y="4310346"/>
            <a:ext cx="9530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 Любители игр и начинающие программисты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A90845-90C2-E688-786F-22EFA9FDC923}"/>
              </a:ext>
            </a:extLst>
          </p:cNvPr>
          <p:cNvSpPr txBox="1"/>
          <p:nvPr/>
        </p:nvSpPr>
        <p:spPr>
          <a:xfrm>
            <a:off x="520033" y="5734366"/>
            <a:ext cx="9530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ontserrat" panose="00000500000000000000" pitchFamily="2" charset="-52"/>
              </a:rPr>
              <a:t>Python, </a:t>
            </a:r>
            <a:r>
              <a:rPr lang="ru-RU" sz="2400" dirty="0">
                <a:latin typeface="Montserrat" panose="00000500000000000000" pitchFamily="2" charset="-52"/>
              </a:rPr>
              <a:t>библиотека </a:t>
            </a:r>
            <a:r>
              <a:rPr lang="en-US" sz="2400" dirty="0">
                <a:latin typeface="Montserrat" panose="00000500000000000000" pitchFamily="2" charset="-52"/>
              </a:rPr>
              <a:t>Arcade</a:t>
            </a:r>
            <a:endParaRPr lang="ru-RU" sz="2400" dirty="0">
              <a:latin typeface="Montserrat" panose="00000500000000000000" pitchFamily="2" charset="-52"/>
            </a:endParaRP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2D701E8-B2A3-9B1E-0FAA-7CBFB7CCE9BA}"/>
              </a:ext>
            </a:extLst>
          </p:cNvPr>
          <p:cNvGrpSpPr/>
          <p:nvPr/>
        </p:nvGrpSpPr>
        <p:grpSpPr>
          <a:xfrm>
            <a:off x="0" y="3202"/>
            <a:ext cx="12192000" cy="697038"/>
            <a:chOff x="0" y="0"/>
            <a:chExt cx="12192000" cy="697038"/>
          </a:xfrm>
        </p:grpSpPr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5CC64A41-7266-AA1B-4B57-5E82247E0EFF}"/>
                </a:ext>
              </a:extLst>
            </p:cNvPr>
            <p:cNvSpPr/>
            <p:nvPr/>
          </p:nvSpPr>
          <p:spPr>
            <a:xfrm>
              <a:off x="0" y="0"/>
              <a:ext cx="12192000" cy="697038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4" name="Picture 8" descr="Picture background">
              <a:extLst>
                <a:ext uri="{FF2B5EF4-FFF2-40B4-BE49-F238E27FC236}">
                  <a16:creationId xmlns:a16="http://schemas.microsoft.com/office/drawing/2014/main" id="{EE3105F9-A72F-53AD-F339-D367009B5CE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97" t="7618" r="8487" b="7687"/>
            <a:stretch>
              <a:fillRect/>
            </a:stretch>
          </p:blipFill>
          <p:spPr bwMode="auto">
            <a:xfrm>
              <a:off x="11629891" y="121101"/>
              <a:ext cx="412515" cy="4554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617DF59B-6ACA-0D63-D02E-6680D6CDF48D}"/>
                </a:ext>
              </a:extLst>
            </p:cNvPr>
            <p:cNvGrpSpPr/>
            <p:nvPr/>
          </p:nvGrpSpPr>
          <p:grpSpPr>
            <a:xfrm>
              <a:off x="9980681" y="121101"/>
              <a:ext cx="1499616" cy="455423"/>
              <a:chOff x="9980681" y="121101"/>
              <a:chExt cx="1499616" cy="455423"/>
            </a:xfrm>
          </p:grpSpPr>
          <p:sp>
            <p:nvSpPr>
              <p:cNvPr id="49" name="Прямоугольник: скругленные углы 48">
                <a:extLst>
                  <a:ext uri="{FF2B5EF4-FFF2-40B4-BE49-F238E27FC236}">
                    <a16:creationId xmlns:a16="http://schemas.microsoft.com/office/drawing/2014/main" id="{418EDDF5-C499-6EA5-DA2D-F63E621A628C}"/>
                  </a:ext>
                </a:extLst>
              </p:cNvPr>
              <p:cNvSpPr/>
              <p:nvPr/>
            </p:nvSpPr>
            <p:spPr>
              <a:xfrm>
                <a:off x="9980681" y="1211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2C564FA-34C3-7EAD-1402-950B95109E2D}"/>
                  </a:ext>
                </a:extLst>
              </p:cNvPr>
              <p:cNvSpPr txBox="1"/>
              <p:nvPr/>
            </p:nvSpPr>
            <p:spPr>
              <a:xfrm>
                <a:off x="10200943" y="16360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Вывод</a:t>
                </a:r>
              </a:p>
            </p:txBody>
          </p:sp>
        </p:grpSp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id="{F13E3BCD-30EB-4F2B-301A-A0EE2B948558}"/>
                </a:ext>
              </a:extLst>
            </p:cNvPr>
            <p:cNvGrpSpPr/>
            <p:nvPr/>
          </p:nvGrpSpPr>
          <p:grpSpPr>
            <a:xfrm>
              <a:off x="3426202" y="118800"/>
              <a:ext cx="1681850" cy="455423"/>
              <a:chOff x="3426202" y="118800"/>
              <a:chExt cx="1681850" cy="455423"/>
            </a:xfrm>
          </p:grpSpPr>
          <p:sp>
            <p:nvSpPr>
              <p:cNvPr id="47" name="Прямоугольник: скругленные углы 46">
                <a:extLst>
                  <a:ext uri="{FF2B5EF4-FFF2-40B4-BE49-F238E27FC236}">
                    <a16:creationId xmlns:a16="http://schemas.microsoft.com/office/drawing/2014/main" id="{8A532FB4-C847-05AE-3106-F7E70170FB04}"/>
                  </a:ext>
                </a:extLst>
              </p:cNvPr>
              <p:cNvSpPr/>
              <p:nvPr/>
            </p:nvSpPr>
            <p:spPr>
              <a:xfrm>
                <a:off x="3440324" y="118800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/>
              </a:solidFill>
              <a:ln w="25400">
                <a:solidFill>
                  <a:srgbClr val="8A8A8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50A4CEA-52DA-3E36-FE91-F50CE92C6488}"/>
                  </a:ext>
                </a:extLst>
              </p:cNvPr>
              <p:cNvSpPr txBox="1"/>
              <p:nvPr/>
            </p:nvSpPr>
            <p:spPr>
              <a:xfrm>
                <a:off x="3426202" y="171900"/>
                <a:ext cx="1681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Введение</a:t>
                </a:r>
              </a:p>
            </p:txBody>
          </p:sp>
        </p:grpSp>
        <p:grpSp>
          <p:nvGrpSpPr>
            <p:cNvPr id="37" name="Группа 36">
              <a:extLst>
                <a:ext uri="{FF2B5EF4-FFF2-40B4-BE49-F238E27FC236}">
                  <a16:creationId xmlns:a16="http://schemas.microsoft.com/office/drawing/2014/main" id="{DA884A5D-4438-B7BD-A763-5BE2AA8EB486}"/>
                </a:ext>
              </a:extLst>
            </p:cNvPr>
            <p:cNvGrpSpPr/>
            <p:nvPr/>
          </p:nvGrpSpPr>
          <p:grpSpPr>
            <a:xfrm>
              <a:off x="6710502" y="120807"/>
              <a:ext cx="1584404" cy="455423"/>
              <a:chOff x="6710502" y="120807"/>
              <a:chExt cx="1584404" cy="455423"/>
            </a:xfrm>
          </p:grpSpPr>
          <p:sp>
            <p:nvSpPr>
              <p:cNvPr id="45" name="Прямоугольник: скругленные углы 44">
                <a:extLst>
                  <a:ext uri="{FF2B5EF4-FFF2-40B4-BE49-F238E27FC236}">
                    <a16:creationId xmlns:a16="http://schemas.microsoft.com/office/drawing/2014/main" id="{193020A4-554B-5588-3427-6626DE3B1A81}"/>
                  </a:ext>
                </a:extLst>
              </p:cNvPr>
              <p:cNvSpPr/>
              <p:nvPr/>
            </p:nvSpPr>
            <p:spPr>
              <a:xfrm>
                <a:off x="6710502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23BCD39-3E7F-8FE3-E068-23E4CBE46899}"/>
                  </a:ext>
                </a:extLst>
              </p:cNvPr>
              <p:cNvSpPr txBox="1"/>
              <p:nvPr/>
            </p:nvSpPr>
            <p:spPr>
              <a:xfrm>
                <a:off x="6795291" y="143041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Функции</a:t>
                </a:r>
              </a:p>
            </p:txBody>
          </p:sp>
        </p:grpSp>
        <p:grpSp>
          <p:nvGrpSpPr>
            <p:cNvPr id="38" name="Группа 37">
              <a:extLst>
                <a:ext uri="{FF2B5EF4-FFF2-40B4-BE49-F238E27FC236}">
                  <a16:creationId xmlns:a16="http://schemas.microsoft.com/office/drawing/2014/main" id="{EF8A7022-FEF2-E44F-7090-0CD92AD88322}"/>
                </a:ext>
              </a:extLst>
            </p:cNvPr>
            <p:cNvGrpSpPr/>
            <p:nvPr/>
          </p:nvGrpSpPr>
          <p:grpSpPr>
            <a:xfrm>
              <a:off x="5075413" y="118801"/>
              <a:ext cx="1524958" cy="455423"/>
              <a:chOff x="5075413" y="118801"/>
              <a:chExt cx="1524958" cy="455423"/>
            </a:xfrm>
          </p:grpSpPr>
          <p:sp>
            <p:nvSpPr>
              <p:cNvPr id="43" name="Прямоугольник: скругленные углы 42">
                <a:extLst>
                  <a:ext uri="{FF2B5EF4-FFF2-40B4-BE49-F238E27FC236}">
                    <a16:creationId xmlns:a16="http://schemas.microsoft.com/office/drawing/2014/main" id="{684159ED-630C-5707-E59A-E4C0BB3F874C}"/>
                  </a:ext>
                </a:extLst>
              </p:cNvPr>
              <p:cNvSpPr/>
              <p:nvPr/>
            </p:nvSpPr>
            <p:spPr>
              <a:xfrm>
                <a:off x="5075413" y="1188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61337D-74FC-0BF9-DE06-72A21B7EA463}"/>
                  </a:ext>
                </a:extLst>
              </p:cNvPr>
              <p:cNvSpPr txBox="1"/>
              <p:nvPr/>
            </p:nvSpPr>
            <p:spPr>
              <a:xfrm>
                <a:off x="5393363" y="14304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Окна</a:t>
                </a:r>
              </a:p>
            </p:txBody>
          </p:sp>
        </p:grp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44A9C7F0-B740-55EA-7BB8-593311E018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63" y="132823"/>
              <a:ext cx="1562377" cy="400110"/>
            </a:xfrm>
            <a:prstGeom prst="rect">
              <a:avLst/>
            </a:prstGeom>
          </p:spPr>
        </p:pic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9F03290B-FCF5-1872-FDD0-9D888F40818B}"/>
                </a:ext>
              </a:extLst>
            </p:cNvPr>
            <p:cNvGrpSpPr/>
            <p:nvPr/>
          </p:nvGrpSpPr>
          <p:grpSpPr>
            <a:xfrm>
              <a:off x="8345591" y="120807"/>
              <a:ext cx="1676011" cy="455423"/>
              <a:chOff x="8345591" y="120807"/>
              <a:chExt cx="1676011" cy="455423"/>
            </a:xfrm>
          </p:grpSpPr>
          <p:sp>
            <p:nvSpPr>
              <p:cNvPr id="41" name="Прямоугольник: скругленные углы 40">
                <a:extLst>
                  <a:ext uri="{FF2B5EF4-FFF2-40B4-BE49-F238E27FC236}">
                    <a16:creationId xmlns:a16="http://schemas.microsoft.com/office/drawing/2014/main" id="{AA910A72-5DD8-382A-E1E3-BD463272DEA5}"/>
                  </a:ext>
                </a:extLst>
              </p:cNvPr>
              <p:cNvSpPr/>
              <p:nvPr/>
            </p:nvSpPr>
            <p:spPr>
              <a:xfrm>
                <a:off x="8345591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D01EB4F-9CCF-E13F-D14B-2AF77FEE5899}"/>
                  </a:ext>
                </a:extLst>
              </p:cNvPr>
              <p:cNvSpPr txBox="1"/>
              <p:nvPr/>
            </p:nvSpPr>
            <p:spPr>
              <a:xfrm>
                <a:off x="8521987" y="161845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Файлы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004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83CC1-1523-2D8E-C36E-F959B8972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программное обеспечение, Мультимедийное программное обеспечение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E1CC67-CA70-C5A2-713C-0A9A220E29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0" t="3022" r="60380" b="26756"/>
          <a:stretch>
            <a:fillRect/>
          </a:stretch>
        </p:blipFill>
        <p:spPr>
          <a:xfrm>
            <a:off x="6600371" y="1008887"/>
            <a:ext cx="5163312" cy="54532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F6EBA2-5CB7-DEB4-E0D3-57169C182789}"/>
              </a:ext>
            </a:extLst>
          </p:cNvPr>
          <p:cNvSpPr txBox="1"/>
          <p:nvPr/>
        </p:nvSpPr>
        <p:spPr>
          <a:xfrm>
            <a:off x="515511" y="1387654"/>
            <a:ext cx="4924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Minecraft" panose="00000400000000000000" pitchFamily="2" charset="0"/>
              </a:rPr>
              <a:t>Меню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CD2C36-157F-593D-1BA8-C0754A07A504}"/>
              </a:ext>
            </a:extLst>
          </p:cNvPr>
          <p:cNvSpPr txBox="1"/>
          <p:nvPr/>
        </p:nvSpPr>
        <p:spPr>
          <a:xfrm>
            <a:off x="762951" y="2388953"/>
            <a:ext cx="5650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Продолжить сохранённую игру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952D1E-D3C1-A137-2F2F-9603CCCEF4AF}"/>
              </a:ext>
            </a:extLst>
          </p:cNvPr>
          <p:cNvSpPr txBox="1"/>
          <p:nvPr/>
        </p:nvSpPr>
        <p:spPr>
          <a:xfrm>
            <a:off x="762950" y="3273838"/>
            <a:ext cx="5650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Начать новую игру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303C19-071E-3257-7C20-66AB4FBDDDDE}"/>
              </a:ext>
            </a:extLst>
          </p:cNvPr>
          <p:cNvSpPr txBox="1"/>
          <p:nvPr/>
        </p:nvSpPr>
        <p:spPr>
          <a:xfrm>
            <a:off x="762949" y="4158723"/>
            <a:ext cx="5650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Выбрать скин игрока из предложенных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222BB2-6DCC-3CDF-7D56-BF92560066CF}"/>
              </a:ext>
            </a:extLst>
          </p:cNvPr>
          <p:cNvSpPr txBox="1"/>
          <p:nvPr/>
        </p:nvSpPr>
        <p:spPr>
          <a:xfrm>
            <a:off x="762949" y="5412940"/>
            <a:ext cx="47289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Настроить громкость фонового звука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CCBE0332-42B5-D2ED-4A72-070F8665F7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343016" y="2454854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A1509562-F062-12E0-EAF0-0EBB06212F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343015" y="3339739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>
            <a:extLst>
              <a:ext uri="{FF2B5EF4-FFF2-40B4-BE49-F238E27FC236}">
                <a16:creationId xmlns:a16="http://schemas.microsoft.com/office/drawing/2014/main" id="{050D37E4-87F2-7B4D-CCFB-A5A9374529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343015" y="4409290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>
            <a:extLst>
              <a:ext uri="{FF2B5EF4-FFF2-40B4-BE49-F238E27FC236}">
                <a16:creationId xmlns:a16="http://schemas.microsoft.com/office/drawing/2014/main" id="{B7C675F4-8B10-6D51-5E4B-3F2E5CDB5F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343015" y="5663507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F82F117E-1C6B-D332-5595-57E509191F3F}"/>
              </a:ext>
            </a:extLst>
          </p:cNvPr>
          <p:cNvGrpSpPr/>
          <p:nvPr/>
        </p:nvGrpSpPr>
        <p:grpSpPr>
          <a:xfrm>
            <a:off x="0" y="0"/>
            <a:ext cx="12192000" cy="697038"/>
            <a:chOff x="0" y="0"/>
            <a:chExt cx="12192000" cy="697038"/>
          </a:xfrm>
        </p:grpSpPr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769DF0B0-9094-ED10-D245-C5DC6EE14561}"/>
                </a:ext>
              </a:extLst>
            </p:cNvPr>
            <p:cNvSpPr/>
            <p:nvPr/>
          </p:nvSpPr>
          <p:spPr>
            <a:xfrm>
              <a:off x="0" y="0"/>
              <a:ext cx="12192000" cy="697038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31" name="Picture 8" descr="Picture background">
              <a:extLst>
                <a:ext uri="{FF2B5EF4-FFF2-40B4-BE49-F238E27FC236}">
                  <a16:creationId xmlns:a16="http://schemas.microsoft.com/office/drawing/2014/main" id="{C20C6F8A-6F33-7C0A-93C5-E579B12B8F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97" t="7618" r="8487" b="7687"/>
            <a:stretch>
              <a:fillRect/>
            </a:stretch>
          </p:blipFill>
          <p:spPr bwMode="auto">
            <a:xfrm>
              <a:off x="11629891" y="121101"/>
              <a:ext cx="412515" cy="4554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C4B27D3C-F42B-79D7-8737-0C798D84AEE3}"/>
                </a:ext>
              </a:extLst>
            </p:cNvPr>
            <p:cNvGrpSpPr/>
            <p:nvPr/>
          </p:nvGrpSpPr>
          <p:grpSpPr>
            <a:xfrm>
              <a:off x="9980681" y="121101"/>
              <a:ext cx="1499616" cy="455423"/>
              <a:chOff x="9980681" y="121101"/>
              <a:chExt cx="1499616" cy="455423"/>
            </a:xfrm>
          </p:grpSpPr>
          <p:sp>
            <p:nvSpPr>
              <p:cNvPr id="46" name="Прямоугольник: скругленные углы 45">
                <a:extLst>
                  <a:ext uri="{FF2B5EF4-FFF2-40B4-BE49-F238E27FC236}">
                    <a16:creationId xmlns:a16="http://schemas.microsoft.com/office/drawing/2014/main" id="{09ADB25D-9530-BBDD-35BB-DA7147654900}"/>
                  </a:ext>
                </a:extLst>
              </p:cNvPr>
              <p:cNvSpPr/>
              <p:nvPr/>
            </p:nvSpPr>
            <p:spPr>
              <a:xfrm>
                <a:off x="9980681" y="1211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2AE94BD-08CC-01FC-C21B-6B3765926515}"/>
                  </a:ext>
                </a:extLst>
              </p:cNvPr>
              <p:cNvSpPr txBox="1"/>
              <p:nvPr/>
            </p:nvSpPr>
            <p:spPr>
              <a:xfrm>
                <a:off x="10200943" y="16360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Вывод</a:t>
                </a:r>
              </a:p>
            </p:txBody>
          </p:sp>
        </p:grpSp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5E00CB51-52B9-F8C0-6907-40893DB728F8}"/>
                </a:ext>
              </a:extLst>
            </p:cNvPr>
            <p:cNvGrpSpPr/>
            <p:nvPr/>
          </p:nvGrpSpPr>
          <p:grpSpPr>
            <a:xfrm>
              <a:off x="3426202" y="118800"/>
              <a:ext cx="1681850" cy="455423"/>
              <a:chOff x="3426202" y="118800"/>
              <a:chExt cx="1681850" cy="455423"/>
            </a:xfrm>
          </p:grpSpPr>
          <p:sp>
            <p:nvSpPr>
              <p:cNvPr id="44" name="Прямоугольник: скругленные углы 43">
                <a:extLst>
                  <a:ext uri="{FF2B5EF4-FFF2-40B4-BE49-F238E27FC236}">
                    <a16:creationId xmlns:a16="http://schemas.microsoft.com/office/drawing/2014/main" id="{E8AEBCE0-8A69-1B70-CA6E-5C25BBE44511}"/>
                  </a:ext>
                </a:extLst>
              </p:cNvPr>
              <p:cNvSpPr/>
              <p:nvPr/>
            </p:nvSpPr>
            <p:spPr>
              <a:xfrm>
                <a:off x="3440324" y="118800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7033258-CA26-B679-7762-DE40D43C51C9}"/>
                  </a:ext>
                </a:extLst>
              </p:cNvPr>
              <p:cNvSpPr txBox="1"/>
              <p:nvPr/>
            </p:nvSpPr>
            <p:spPr>
              <a:xfrm>
                <a:off x="3426202" y="171900"/>
                <a:ext cx="1681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Введение</a:t>
                </a:r>
              </a:p>
            </p:txBody>
          </p:sp>
        </p:grpSp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284E1A44-1449-E8C9-5048-7854089AB8FE}"/>
                </a:ext>
              </a:extLst>
            </p:cNvPr>
            <p:cNvGrpSpPr/>
            <p:nvPr/>
          </p:nvGrpSpPr>
          <p:grpSpPr>
            <a:xfrm>
              <a:off x="6710502" y="120807"/>
              <a:ext cx="1584404" cy="455423"/>
              <a:chOff x="6710502" y="120807"/>
              <a:chExt cx="1584404" cy="455423"/>
            </a:xfrm>
          </p:grpSpPr>
          <p:sp>
            <p:nvSpPr>
              <p:cNvPr id="42" name="Прямоугольник: скругленные углы 41">
                <a:extLst>
                  <a:ext uri="{FF2B5EF4-FFF2-40B4-BE49-F238E27FC236}">
                    <a16:creationId xmlns:a16="http://schemas.microsoft.com/office/drawing/2014/main" id="{9B5F16B9-89C6-382E-197F-6A6F2A8093C0}"/>
                  </a:ext>
                </a:extLst>
              </p:cNvPr>
              <p:cNvSpPr/>
              <p:nvPr/>
            </p:nvSpPr>
            <p:spPr>
              <a:xfrm>
                <a:off x="6710502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93DF498-EC0B-CDD3-0625-A5C7A9795985}"/>
                  </a:ext>
                </a:extLst>
              </p:cNvPr>
              <p:cNvSpPr txBox="1"/>
              <p:nvPr/>
            </p:nvSpPr>
            <p:spPr>
              <a:xfrm>
                <a:off x="6795291" y="143041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Функции</a:t>
                </a:r>
              </a:p>
            </p:txBody>
          </p:sp>
        </p:grpSp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B8472854-812D-BBF9-FE91-9C9A546D3227}"/>
                </a:ext>
              </a:extLst>
            </p:cNvPr>
            <p:cNvGrpSpPr/>
            <p:nvPr/>
          </p:nvGrpSpPr>
          <p:grpSpPr>
            <a:xfrm>
              <a:off x="5075413" y="118801"/>
              <a:ext cx="1524958" cy="455423"/>
              <a:chOff x="5075413" y="118801"/>
              <a:chExt cx="1524958" cy="455423"/>
            </a:xfrm>
          </p:grpSpPr>
          <p:sp>
            <p:nvSpPr>
              <p:cNvPr id="40" name="Прямоугольник: скругленные углы 39">
                <a:extLst>
                  <a:ext uri="{FF2B5EF4-FFF2-40B4-BE49-F238E27FC236}">
                    <a16:creationId xmlns:a16="http://schemas.microsoft.com/office/drawing/2014/main" id="{2732619C-F78F-35FC-93AD-34FBDCAC4559}"/>
                  </a:ext>
                </a:extLst>
              </p:cNvPr>
              <p:cNvSpPr/>
              <p:nvPr/>
            </p:nvSpPr>
            <p:spPr>
              <a:xfrm>
                <a:off x="5075413" y="1188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/>
              </a:solidFill>
              <a:ln w="25400">
                <a:solidFill>
                  <a:srgbClr val="8A8A8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4A7EC42-FBAB-52E3-18AA-9D70C64CB270}"/>
                  </a:ext>
                </a:extLst>
              </p:cNvPr>
              <p:cNvSpPr txBox="1"/>
              <p:nvPr/>
            </p:nvSpPr>
            <p:spPr>
              <a:xfrm>
                <a:off x="5393363" y="14304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Окна</a:t>
                </a:r>
              </a:p>
            </p:txBody>
          </p:sp>
        </p:grpSp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A7D072E6-F749-84A0-DF0D-14634FE93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63" y="132823"/>
              <a:ext cx="1562377" cy="400110"/>
            </a:xfrm>
            <a:prstGeom prst="rect">
              <a:avLst/>
            </a:prstGeom>
          </p:spPr>
        </p:pic>
        <p:grpSp>
          <p:nvGrpSpPr>
            <p:cNvPr id="37" name="Группа 36">
              <a:extLst>
                <a:ext uri="{FF2B5EF4-FFF2-40B4-BE49-F238E27FC236}">
                  <a16:creationId xmlns:a16="http://schemas.microsoft.com/office/drawing/2014/main" id="{79CEF9ED-500B-0FDC-9CE6-C0FA15E0A5AC}"/>
                </a:ext>
              </a:extLst>
            </p:cNvPr>
            <p:cNvGrpSpPr/>
            <p:nvPr/>
          </p:nvGrpSpPr>
          <p:grpSpPr>
            <a:xfrm>
              <a:off x="8345591" y="120807"/>
              <a:ext cx="1676011" cy="455423"/>
              <a:chOff x="8345591" y="120807"/>
              <a:chExt cx="1676011" cy="455423"/>
            </a:xfrm>
          </p:grpSpPr>
          <p:sp>
            <p:nvSpPr>
              <p:cNvPr id="38" name="Прямоугольник: скругленные углы 37">
                <a:extLst>
                  <a:ext uri="{FF2B5EF4-FFF2-40B4-BE49-F238E27FC236}">
                    <a16:creationId xmlns:a16="http://schemas.microsoft.com/office/drawing/2014/main" id="{279BD88D-BF78-78A0-D958-97DA51EA3592}"/>
                  </a:ext>
                </a:extLst>
              </p:cNvPr>
              <p:cNvSpPr/>
              <p:nvPr/>
            </p:nvSpPr>
            <p:spPr>
              <a:xfrm>
                <a:off x="8345591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9FAC125-F4A1-BED8-B8AC-69507D0DB9D4}"/>
                  </a:ext>
                </a:extLst>
              </p:cNvPr>
              <p:cNvSpPr txBox="1"/>
              <p:nvPr/>
            </p:nvSpPr>
            <p:spPr>
              <a:xfrm>
                <a:off x="8521987" y="161845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Файлы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9677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27985-867C-21E8-5CAE-9EEFB66F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14B3023-7814-89E7-0D98-C24B8E8FF675}"/>
              </a:ext>
            </a:extLst>
          </p:cNvPr>
          <p:cNvSpPr txBox="1"/>
          <p:nvPr/>
        </p:nvSpPr>
        <p:spPr>
          <a:xfrm>
            <a:off x="515511" y="1347287"/>
            <a:ext cx="4924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Minecraft" panose="00000400000000000000" pitchFamily="2" charset="0"/>
              </a:rPr>
              <a:t>Главное окно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B1B8E6-3DDC-72F4-C88E-637A7C55024B}"/>
              </a:ext>
            </a:extLst>
          </p:cNvPr>
          <p:cNvSpPr txBox="1"/>
          <p:nvPr/>
        </p:nvSpPr>
        <p:spPr>
          <a:xfrm>
            <a:off x="762949" y="2388953"/>
            <a:ext cx="5650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Горячая панель инвентаря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11E8F4-F222-368A-6F30-B5DB833E4943}"/>
              </a:ext>
            </a:extLst>
          </p:cNvPr>
          <p:cNvSpPr txBox="1"/>
          <p:nvPr/>
        </p:nvSpPr>
        <p:spPr>
          <a:xfrm>
            <a:off x="762949" y="3273838"/>
            <a:ext cx="5650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Шкала здоровья игрока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760D0A-DA13-64C8-EAFF-CC958FBBE3C1}"/>
              </a:ext>
            </a:extLst>
          </p:cNvPr>
          <p:cNvSpPr txBox="1"/>
          <p:nvPr/>
        </p:nvSpPr>
        <p:spPr>
          <a:xfrm>
            <a:off x="762949" y="4158723"/>
            <a:ext cx="5650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Основное взаимодействие с игрой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7466A2B0-6A0F-3245-454F-2111E34D51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343016" y="2454854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1F38246F-DB71-F8D5-B059-F0FFF9B46C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343015" y="3339739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>
            <a:extLst>
              <a:ext uri="{FF2B5EF4-FFF2-40B4-BE49-F238E27FC236}">
                <a16:creationId xmlns:a16="http://schemas.microsoft.com/office/drawing/2014/main" id="{A02B5D6A-4BAE-4D3C-62E0-B08259DB8A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343015" y="4409290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1BF4E4-0737-4F59-17E3-C6E6393547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00" t="11896" r="55763" b="18400"/>
          <a:stretch>
            <a:fillRect/>
          </a:stretch>
        </p:blipFill>
        <p:spPr>
          <a:xfrm>
            <a:off x="6795291" y="1462339"/>
            <a:ext cx="4728914" cy="4992695"/>
          </a:xfrm>
          <a:prstGeom prst="rect">
            <a:avLst/>
          </a:prstGeom>
        </p:spPr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CACBC9D-005C-BE65-BC38-AE17E59EE771}"/>
              </a:ext>
            </a:extLst>
          </p:cNvPr>
          <p:cNvGrpSpPr/>
          <p:nvPr/>
        </p:nvGrpSpPr>
        <p:grpSpPr>
          <a:xfrm>
            <a:off x="0" y="-7444"/>
            <a:ext cx="12192000" cy="697038"/>
            <a:chOff x="0" y="0"/>
            <a:chExt cx="12192000" cy="697038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0C8AD5B5-0316-562D-1277-FCDFF2168362}"/>
                </a:ext>
              </a:extLst>
            </p:cNvPr>
            <p:cNvSpPr/>
            <p:nvPr/>
          </p:nvSpPr>
          <p:spPr>
            <a:xfrm>
              <a:off x="0" y="0"/>
              <a:ext cx="12192000" cy="697038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7" name="Picture 8" descr="Picture background">
              <a:extLst>
                <a:ext uri="{FF2B5EF4-FFF2-40B4-BE49-F238E27FC236}">
                  <a16:creationId xmlns:a16="http://schemas.microsoft.com/office/drawing/2014/main" id="{EE7E498A-6660-59C0-3BE2-5E1BC565F4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97" t="7618" r="8487" b="7687"/>
            <a:stretch>
              <a:fillRect/>
            </a:stretch>
          </p:blipFill>
          <p:spPr bwMode="auto">
            <a:xfrm>
              <a:off x="11629891" y="121101"/>
              <a:ext cx="412515" cy="4554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E076B0BA-5439-A896-3A8D-0F9714645655}"/>
                </a:ext>
              </a:extLst>
            </p:cNvPr>
            <p:cNvGrpSpPr/>
            <p:nvPr/>
          </p:nvGrpSpPr>
          <p:grpSpPr>
            <a:xfrm>
              <a:off x="9980681" y="121101"/>
              <a:ext cx="1499616" cy="455423"/>
              <a:chOff x="9980681" y="121101"/>
              <a:chExt cx="1499616" cy="455423"/>
            </a:xfrm>
          </p:grpSpPr>
          <p:sp>
            <p:nvSpPr>
              <p:cNvPr id="41" name="Прямоугольник: скругленные углы 40">
                <a:extLst>
                  <a:ext uri="{FF2B5EF4-FFF2-40B4-BE49-F238E27FC236}">
                    <a16:creationId xmlns:a16="http://schemas.microsoft.com/office/drawing/2014/main" id="{133D65C4-48A0-63D4-940A-386587325594}"/>
                  </a:ext>
                </a:extLst>
              </p:cNvPr>
              <p:cNvSpPr/>
              <p:nvPr/>
            </p:nvSpPr>
            <p:spPr>
              <a:xfrm>
                <a:off x="9980681" y="1211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A35B589-8A85-44FA-A35F-CCBC31D2C00B}"/>
                  </a:ext>
                </a:extLst>
              </p:cNvPr>
              <p:cNvSpPr txBox="1"/>
              <p:nvPr/>
            </p:nvSpPr>
            <p:spPr>
              <a:xfrm>
                <a:off x="10200943" y="16360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Вывод</a:t>
                </a:r>
              </a:p>
            </p:txBody>
          </p:sp>
        </p:grp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A2B07959-CD36-11D4-5137-C0AFCA52F05C}"/>
                </a:ext>
              </a:extLst>
            </p:cNvPr>
            <p:cNvGrpSpPr/>
            <p:nvPr/>
          </p:nvGrpSpPr>
          <p:grpSpPr>
            <a:xfrm>
              <a:off x="3426202" y="118800"/>
              <a:ext cx="1681850" cy="455423"/>
              <a:chOff x="3426202" y="118800"/>
              <a:chExt cx="1681850" cy="455423"/>
            </a:xfrm>
          </p:grpSpPr>
          <p:sp>
            <p:nvSpPr>
              <p:cNvPr id="39" name="Прямоугольник: скругленные углы 38">
                <a:extLst>
                  <a:ext uri="{FF2B5EF4-FFF2-40B4-BE49-F238E27FC236}">
                    <a16:creationId xmlns:a16="http://schemas.microsoft.com/office/drawing/2014/main" id="{5F6E4280-5C82-D594-C568-92E4E8264E24}"/>
                  </a:ext>
                </a:extLst>
              </p:cNvPr>
              <p:cNvSpPr/>
              <p:nvPr/>
            </p:nvSpPr>
            <p:spPr>
              <a:xfrm>
                <a:off x="3440324" y="118800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BB03E7C-7918-6D67-F0C9-051481FC6716}"/>
                  </a:ext>
                </a:extLst>
              </p:cNvPr>
              <p:cNvSpPr txBox="1"/>
              <p:nvPr/>
            </p:nvSpPr>
            <p:spPr>
              <a:xfrm>
                <a:off x="3426202" y="171900"/>
                <a:ext cx="1681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Введение</a:t>
                </a:r>
              </a:p>
            </p:txBody>
          </p:sp>
        </p:grpSp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9C37DFE9-B9B0-4704-9D19-C7889D3D5433}"/>
                </a:ext>
              </a:extLst>
            </p:cNvPr>
            <p:cNvGrpSpPr/>
            <p:nvPr/>
          </p:nvGrpSpPr>
          <p:grpSpPr>
            <a:xfrm>
              <a:off x="6710502" y="120807"/>
              <a:ext cx="1584404" cy="455423"/>
              <a:chOff x="6710502" y="120807"/>
              <a:chExt cx="1584404" cy="455423"/>
            </a:xfrm>
          </p:grpSpPr>
          <p:sp>
            <p:nvSpPr>
              <p:cNvPr id="37" name="Прямоугольник: скругленные углы 36">
                <a:extLst>
                  <a:ext uri="{FF2B5EF4-FFF2-40B4-BE49-F238E27FC236}">
                    <a16:creationId xmlns:a16="http://schemas.microsoft.com/office/drawing/2014/main" id="{186EAC8D-851A-586B-78C8-805F85A02E02}"/>
                  </a:ext>
                </a:extLst>
              </p:cNvPr>
              <p:cNvSpPr/>
              <p:nvPr/>
            </p:nvSpPr>
            <p:spPr>
              <a:xfrm>
                <a:off x="6710502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52FF111-5971-D002-8E60-6B0736B8B93C}"/>
                  </a:ext>
                </a:extLst>
              </p:cNvPr>
              <p:cNvSpPr txBox="1"/>
              <p:nvPr/>
            </p:nvSpPr>
            <p:spPr>
              <a:xfrm>
                <a:off x="6795291" y="143041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Функции</a:t>
                </a:r>
              </a:p>
            </p:txBody>
          </p:sp>
        </p:grpSp>
        <p:grpSp>
          <p:nvGrpSpPr>
            <p:cNvPr id="30" name="Группа 29">
              <a:extLst>
                <a:ext uri="{FF2B5EF4-FFF2-40B4-BE49-F238E27FC236}">
                  <a16:creationId xmlns:a16="http://schemas.microsoft.com/office/drawing/2014/main" id="{906209AE-69F5-BB33-9E3D-E6FB4F3E864C}"/>
                </a:ext>
              </a:extLst>
            </p:cNvPr>
            <p:cNvGrpSpPr/>
            <p:nvPr/>
          </p:nvGrpSpPr>
          <p:grpSpPr>
            <a:xfrm>
              <a:off x="5075413" y="118801"/>
              <a:ext cx="1524958" cy="455423"/>
              <a:chOff x="5075413" y="118801"/>
              <a:chExt cx="1524958" cy="455423"/>
            </a:xfrm>
          </p:grpSpPr>
          <p:sp>
            <p:nvSpPr>
              <p:cNvPr id="35" name="Прямоугольник: скругленные углы 34">
                <a:extLst>
                  <a:ext uri="{FF2B5EF4-FFF2-40B4-BE49-F238E27FC236}">
                    <a16:creationId xmlns:a16="http://schemas.microsoft.com/office/drawing/2014/main" id="{52C5F5BB-6EE9-9918-3122-04481C621C78}"/>
                  </a:ext>
                </a:extLst>
              </p:cNvPr>
              <p:cNvSpPr/>
              <p:nvPr/>
            </p:nvSpPr>
            <p:spPr>
              <a:xfrm>
                <a:off x="5075413" y="1188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/>
              </a:solidFill>
              <a:ln w="25400">
                <a:solidFill>
                  <a:srgbClr val="8A8A8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64CAB5-73A6-D51A-DFB5-2982E544B3C1}"/>
                  </a:ext>
                </a:extLst>
              </p:cNvPr>
              <p:cNvSpPr txBox="1"/>
              <p:nvPr/>
            </p:nvSpPr>
            <p:spPr>
              <a:xfrm>
                <a:off x="5393363" y="14304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Окна</a:t>
                </a:r>
              </a:p>
            </p:txBody>
          </p:sp>
        </p:grp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648BC2A2-80DF-7DCA-4A68-92D8DAB5B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63" y="132823"/>
              <a:ext cx="1562377" cy="400110"/>
            </a:xfrm>
            <a:prstGeom prst="rect">
              <a:avLst/>
            </a:prstGeom>
          </p:spPr>
        </p:pic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CF8D1B24-3C97-D0FA-9B46-05A8A5F7A5D3}"/>
                </a:ext>
              </a:extLst>
            </p:cNvPr>
            <p:cNvGrpSpPr/>
            <p:nvPr/>
          </p:nvGrpSpPr>
          <p:grpSpPr>
            <a:xfrm>
              <a:off x="8345591" y="120807"/>
              <a:ext cx="1676011" cy="455423"/>
              <a:chOff x="8345591" y="120807"/>
              <a:chExt cx="1676011" cy="455423"/>
            </a:xfrm>
          </p:grpSpPr>
          <p:sp>
            <p:nvSpPr>
              <p:cNvPr id="33" name="Прямоугольник: скругленные углы 32">
                <a:extLst>
                  <a:ext uri="{FF2B5EF4-FFF2-40B4-BE49-F238E27FC236}">
                    <a16:creationId xmlns:a16="http://schemas.microsoft.com/office/drawing/2014/main" id="{BF2630AE-1227-39BA-5B17-B0D7632BCF4E}"/>
                  </a:ext>
                </a:extLst>
              </p:cNvPr>
              <p:cNvSpPr/>
              <p:nvPr/>
            </p:nvSpPr>
            <p:spPr>
              <a:xfrm>
                <a:off x="8345591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0EA9D6-DE0C-7A04-8DE7-8BC3DB3FD395}"/>
                  </a:ext>
                </a:extLst>
              </p:cNvPr>
              <p:cNvSpPr txBox="1"/>
              <p:nvPr/>
            </p:nvSpPr>
            <p:spPr>
              <a:xfrm>
                <a:off x="8521987" y="161845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Файлы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4555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FE36A-868E-2E13-7474-19F14D76F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Изображение выглядит как текст, программное обеспечение, Значок на компьютер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8DB6B0B-D993-5E3A-374C-E3D36C0D01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0" t="3911" r="60260" b="28178"/>
          <a:stretch>
            <a:fillRect/>
          </a:stretch>
        </p:blipFill>
        <p:spPr>
          <a:xfrm>
            <a:off x="7090025" y="2484064"/>
            <a:ext cx="3831643" cy="394525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, программное обеспечение, Веб-сайт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102DF5-1A1A-C079-BC5D-07F88FAECE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00" t="18401" r="52564" b="12623"/>
          <a:stretch>
            <a:fillRect/>
          </a:stretch>
        </p:blipFill>
        <p:spPr>
          <a:xfrm>
            <a:off x="1325744" y="2484063"/>
            <a:ext cx="3776233" cy="39452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46A8CF2-9449-7CC9-2E9F-88362E24EE43}"/>
              </a:ext>
            </a:extLst>
          </p:cNvPr>
          <p:cNvSpPr txBox="1"/>
          <p:nvPr/>
        </p:nvSpPr>
        <p:spPr>
          <a:xfrm>
            <a:off x="2524885" y="1535368"/>
            <a:ext cx="1830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Minecraft" panose="00000400000000000000" pitchFamily="2" charset="0"/>
              </a:rPr>
              <a:t>Пауза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15B21D-561C-A0E6-A47C-EBB467C0D2B0}"/>
              </a:ext>
            </a:extLst>
          </p:cNvPr>
          <p:cNvSpPr txBox="1"/>
          <p:nvPr/>
        </p:nvSpPr>
        <p:spPr>
          <a:xfrm>
            <a:off x="6795291" y="1535368"/>
            <a:ext cx="4924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Minecraft" panose="00000400000000000000" pitchFamily="2" charset="0"/>
              </a:rPr>
              <a:t>Окно перерождения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2BA43237-D9DE-0A8D-86F7-9AE0A2BDB7E8}"/>
              </a:ext>
            </a:extLst>
          </p:cNvPr>
          <p:cNvGrpSpPr/>
          <p:nvPr/>
        </p:nvGrpSpPr>
        <p:grpSpPr>
          <a:xfrm>
            <a:off x="0" y="-15110"/>
            <a:ext cx="12192000" cy="697038"/>
            <a:chOff x="0" y="0"/>
            <a:chExt cx="12192000" cy="697038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D52880C5-0E3B-2B96-7D30-2C6550689B1C}"/>
                </a:ext>
              </a:extLst>
            </p:cNvPr>
            <p:cNvSpPr/>
            <p:nvPr/>
          </p:nvSpPr>
          <p:spPr>
            <a:xfrm>
              <a:off x="0" y="0"/>
              <a:ext cx="12192000" cy="697038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28" name="Picture 8" descr="Picture background">
              <a:extLst>
                <a:ext uri="{FF2B5EF4-FFF2-40B4-BE49-F238E27FC236}">
                  <a16:creationId xmlns:a16="http://schemas.microsoft.com/office/drawing/2014/main" id="{48DD9C19-5EE7-F549-D069-60DE6E08C3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97" t="7618" r="8487" b="7687"/>
            <a:stretch>
              <a:fillRect/>
            </a:stretch>
          </p:blipFill>
          <p:spPr bwMode="auto">
            <a:xfrm>
              <a:off x="11629891" y="121101"/>
              <a:ext cx="412515" cy="4554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3128D6DB-2A3B-0C39-5ABE-F3BE6D1B54EE}"/>
                </a:ext>
              </a:extLst>
            </p:cNvPr>
            <p:cNvGrpSpPr/>
            <p:nvPr/>
          </p:nvGrpSpPr>
          <p:grpSpPr>
            <a:xfrm>
              <a:off x="9980681" y="121101"/>
              <a:ext cx="1499616" cy="455423"/>
              <a:chOff x="9980681" y="121101"/>
              <a:chExt cx="1499616" cy="455423"/>
            </a:xfrm>
          </p:grpSpPr>
          <p:sp>
            <p:nvSpPr>
              <p:cNvPr id="43" name="Прямоугольник: скругленные углы 42">
                <a:extLst>
                  <a:ext uri="{FF2B5EF4-FFF2-40B4-BE49-F238E27FC236}">
                    <a16:creationId xmlns:a16="http://schemas.microsoft.com/office/drawing/2014/main" id="{BB24149C-A85F-3B55-1465-1D4991ACF363}"/>
                  </a:ext>
                </a:extLst>
              </p:cNvPr>
              <p:cNvSpPr/>
              <p:nvPr/>
            </p:nvSpPr>
            <p:spPr>
              <a:xfrm>
                <a:off x="9980681" y="1211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A9CFEB2-3359-830E-99F7-71524E9D5B67}"/>
                  </a:ext>
                </a:extLst>
              </p:cNvPr>
              <p:cNvSpPr txBox="1"/>
              <p:nvPr/>
            </p:nvSpPr>
            <p:spPr>
              <a:xfrm>
                <a:off x="10200943" y="16360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Вывод</a:t>
                </a:r>
              </a:p>
            </p:txBody>
          </p:sp>
        </p:grpSp>
        <p:grpSp>
          <p:nvGrpSpPr>
            <p:cNvPr id="30" name="Группа 29">
              <a:extLst>
                <a:ext uri="{FF2B5EF4-FFF2-40B4-BE49-F238E27FC236}">
                  <a16:creationId xmlns:a16="http://schemas.microsoft.com/office/drawing/2014/main" id="{609530BA-E676-BA43-A61A-2EEE7F21F42A}"/>
                </a:ext>
              </a:extLst>
            </p:cNvPr>
            <p:cNvGrpSpPr/>
            <p:nvPr/>
          </p:nvGrpSpPr>
          <p:grpSpPr>
            <a:xfrm>
              <a:off x="3426202" y="118800"/>
              <a:ext cx="1681850" cy="455423"/>
              <a:chOff x="3426202" y="118800"/>
              <a:chExt cx="1681850" cy="455423"/>
            </a:xfrm>
          </p:grpSpPr>
          <p:sp>
            <p:nvSpPr>
              <p:cNvPr id="41" name="Прямоугольник: скругленные углы 40">
                <a:extLst>
                  <a:ext uri="{FF2B5EF4-FFF2-40B4-BE49-F238E27FC236}">
                    <a16:creationId xmlns:a16="http://schemas.microsoft.com/office/drawing/2014/main" id="{B87FA404-4A70-1218-EC15-1965178523AD}"/>
                  </a:ext>
                </a:extLst>
              </p:cNvPr>
              <p:cNvSpPr/>
              <p:nvPr/>
            </p:nvSpPr>
            <p:spPr>
              <a:xfrm>
                <a:off x="3440324" y="118800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BA96BAC-DE4F-FF25-5EF0-5E5A4821185F}"/>
                  </a:ext>
                </a:extLst>
              </p:cNvPr>
              <p:cNvSpPr txBox="1"/>
              <p:nvPr/>
            </p:nvSpPr>
            <p:spPr>
              <a:xfrm>
                <a:off x="3426202" y="171900"/>
                <a:ext cx="1681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Введение</a:t>
                </a:r>
              </a:p>
            </p:txBody>
          </p:sp>
        </p:grpSp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1C03FC88-79D8-F035-480A-BAB2EED75D8C}"/>
                </a:ext>
              </a:extLst>
            </p:cNvPr>
            <p:cNvGrpSpPr/>
            <p:nvPr/>
          </p:nvGrpSpPr>
          <p:grpSpPr>
            <a:xfrm>
              <a:off x="6710502" y="120807"/>
              <a:ext cx="1584404" cy="455423"/>
              <a:chOff x="6710502" y="120807"/>
              <a:chExt cx="1584404" cy="455423"/>
            </a:xfrm>
          </p:grpSpPr>
          <p:sp>
            <p:nvSpPr>
              <p:cNvPr id="39" name="Прямоугольник: скругленные углы 38">
                <a:extLst>
                  <a:ext uri="{FF2B5EF4-FFF2-40B4-BE49-F238E27FC236}">
                    <a16:creationId xmlns:a16="http://schemas.microsoft.com/office/drawing/2014/main" id="{35DF679E-A6F0-0CF2-BA7B-47CFF4B0DF6C}"/>
                  </a:ext>
                </a:extLst>
              </p:cNvPr>
              <p:cNvSpPr/>
              <p:nvPr/>
            </p:nvSpPr>
            <p:spPr>
              <a:xfrm>
                <a:off x="6710502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35581D-A400-0106-BE96-088C0403BA82}"/>
                  </a:ext>
                </a:extLst>
              </p:cNvPr>
              <p:cNvSpPr txBox="1"/>
              <p:nvPr/>
            </p:nvSpPr>
            <p:spPr>
              <a:xfrm>
                <a:off x="6795291" y="143041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Функции</a:t>
                </a:r>
              </a:p>
            </p:txBody>
          </p:sp>
        </p:grpSp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91E62EB7-D5C4-B934-A881-8298EF1EC2C1}"/>
                </a:ext>
              </a:extLst>
            </p:cNvPr>
            <p:cNvGrpSpPr/>
            <p:nvPr/>
          </p:nvGrpSpPr>
          <p:grpSpPr>
            <a:xfrm>
              <a:off x="5075413" y="118801"/>
              <a:ext cx="1524958" cy="455423"/>
              <a:chOff x="5075413" y="118801"/>
              <a:chExt cx="1524958" cy="455423"/>
            </a:xfrm>
          </p:grpSpPr>
          <p:sp>
            <p:nvSpPr>
              <p:cNvPr id="37" name="Прямоугольник: скругленные углы 36">
                <a:extLst>
                  <a:ext uri="{FF2B5EF4-FFF2-40B4-BE49-F238E27FC236}">
                    <a16:creationId xmlns:a16="http://schemas.microsoft.com/office/drawing/2014/main" id="{9889BF74-E4A4-F63A-58D7-33907ED72530}"/>
                  </a:ext>
                </a:extLst>
              </p:cNvPr>
              <p:cNvSpPr/>
              <p:nvPr/>
            </p:nvSpPr>
            <p:spPr>
              <a:xfrm>
                <a:off x="5075413" y="1188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/>
              </a:solidFill>
              <a:ln w="25400">
                <a:solidFill>
                  <a:srgbClr val="8A8A8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2F4FFB0-EAF4-3801-614D-F1DB217A0746}"/>
                  </a:ext>
                </a:extLst>
              </p:cNvPr>
              <p:cNvSpPr txBox="1"/>
              <p:nvPr/>
            </p:nvSpPr>
            <p:spPr>
              <a:xfrm>
                <a:off x="5393363" y="14304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Окна</a:t>
                </a:r>
              </a:p>
            </p:txBody>
          </p:sp>
        </p:grp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26E2423D-467F-9B2F-905B-FBE9F3DF7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63" y="132823"/>
              <a:ext cx="1562377" cy="400110"/>
            </a:xfrm>
            <a:prstGeom prst="rect">
              <a:avLst/>
            </a:prstGeom>
          </p:spPr>
        </p:pic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8B94C0FA-23A3-9AB7-EE2F-545DBE347C35}"/>
                </a:ext>
              </a:extLst>
            </p:cNvPr>
            <p:cNvGrpSpPr/>
            <p:nvPr/>
          </p:nvGrpSpPr>
          <p:grpSpPr>
            <a:xfrm>
              <a:off x="8345591" y="120807"/>
              <a:ext cx="1676011" cy="455423"/>
              <a:chOff x="8345591" y="120807"/>
              <a:chExt cx="1676011" cy="455423"/>
            </a:xfrm>
          </p:grpSpPr>
          <p:sp>
            <p:nvSpPr>
              <p:cNvPr id="35" name="Прямоугольник: скругленные углы 34">
                <a:extLst>
                  <a:ext uri="{FF2B5EF4-FFF2-40B4-BE49-F238E27FC236}">
                    <a16:creationId xmlns:a16="http://schemas.microsoft.com/office/drawing/2014/main" id="{7BA37C10-0653-6E21-E4B4-5AC47F9FE543}"/>
                  </a:ext>
                </a:extLst>
              </p:cNvPr>
              <p:cNvSpPr/>
              <p:nvPr/>
            </p:nvSpPr>
            <p:spPr>
              <a:xfrm>
                <a:off x="8345591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C4E62C9-F37B-6880-AF5A-9EF9A66998FB}"/>
                  </a:ext>
                </a:extLst>
              </p:cNvPr>
              <p:cNvSpPr txBox="1"/>
              <p:nvPr/>
            </p:nvSpPr>
            <p:spPr>
              <a:xfrm>
                <a:off x="8521987" y="161845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Файлы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61399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F3899-FB93-E90A-37FC-71FAA48C7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текст, программное обеспечение, Мультимедийное программное обеспечение, Веб-сай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7FEF822-0B16-0E04-878E-6C611E4935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00" t="42356" r="64682" b="28978"/>
          <a:stretch>
            <a:fillRect/>
          </a:stretch>
        </p:blipFill>
        <p:spPr>
          <a:xfrm>
            <a:off x="4190132" y="1389888"/>
            <a:ext cx="2127916" cy="202811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FDCDD76-DB0B-4C98-502C-33E1A56BFA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87" t="32090" r="52600" b="12624"/>
          <a:stretch>
            <a:fillRect/>
          </a:stretch>
        </p:blipFill>
        <p:spPr>
          <a:xfrm>
            <a:off x="7211050" y="2622479"/>
            <a:ext cx="4524808" cy="3791531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19459E-F07D-2C58-227F-1CFC25C7B4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700" t="33422" r="65700" b="31378"/>
          <a:stretch>
            <a:fillRect/>
          </a:stretch>
        </p:blipFill>
        <p:spPr>
          <a:xfrm>
            <a:off x="4181194" y="3911401"/>
            <a:ext cx="2145792" cy="24140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12849D-B03B-A93F-7819-F4839A6C8244}"/>
              </a:ext>
            </a:extLst>
          </p:cNvPr>
          <p:cNvSpPr txBox="1"/>
          <p:nvPr/>
        </p:nvSpPr>
        <p:spPr>
          <a:xfrm>
            <a:off x="415456" y="1899873"/>
            <a:ext cx="3291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inecraft" panose="00000400000000000000" pitchFamily="2" charset="0"/>
              </a:rPr>
              <a:t>Ломание блоков с анимацией трещин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C739D5-4125-0C7D-D71B-BA920DBDF95A}"/>
              </a:ext>
            </a:extLst>
          </p:cNvPr>
          <p:cNvSpPr txBox="1"/>
          <p:nvPr/>
        </p:nvSpPr>
        <p:spPr>
          <a:xfrm>
            <a:off x="8097812" y="1611722"/>
            <a:ext cx="3765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inecraft" panose="00000400000000000000" pitchFamily="2" charset="0"/>
              </a:rPr>
              <a:t>Окно крафта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F36D0-460A-4D6B-D20C-E47A75448F2B}"/>
              </a:ext>
            </a:extLst>
          </p:cNvPr>
          <p:cNvSpPr txBox="1"/>
          <p:nvPr/>
        </p:nvSpPr>
        <p:spPr>
          <a:xfrm>
            <a:off x="415456" y="4518244"/>
            <a:ext cx="37657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inecraft" panose="00000400000000000000" pitchFamily="2" charset="0"/>
              </a:rPr>
              <a:t>Постановка блоков рядом с игроком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53F6712B-9F7D-3431-EC1E-DF8D95219CB8}"/>
              </a:ext>
            </a:extLst>
          </p:cNvPr>
          <p:cNvGrpSpPr/>
          <p:nvPr/>
        </p:nvGrpSpPr>
        <p:grpSpPr>
          <a:xfrm>
            <a:off x="0" y="2971"/>
            <a:ext cx="12192000" cy="697038"/>
            <a:chOff x="0" y="0"/>
            <a:chExt cx="12192000" cy="697038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DB5D6673-7001-7B5A-9AC2-4718E6F93216}"/>
                </a:ext>
              </a:extLst>
            </p:cNvPr>
            <p:cNvSpPr/>
            <p:nvPr/>
          </p:nvSpPr>
          <p:spPr>
            <a:xfrm>
              <a:off x="0" y="0"/>
              <a:ext cx="12192000" cy="697038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29" name="Picture 8" descr="Picture background">
              <a:extLst>
                <a:ext uri="{FF2B5EF4-FFF2-40B4-BE49-F238E27FC236}">
                  <a16:creationId xmlns:a16="http://schemas.microsoft.com/office/drawing/2014/main" id="{DBBDF241-E6FA-EA1F-4D3B-9D2FD7B683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97" t="7618" r="8487" b="7687"/>
            <a:stretch>
              <a:fillRect/>
            </a:stretch>
          </p:blipFill>
          <p:spPr bwMode="auto">
            <a:xfrm>
              <a:off x="11629891" y="121101"/>
              <a:ext cx="412515" cy="4554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0" name="Группа 29">
              <a:extLst>
                <a:ext uri="{FF2B5EF4-FFF2-40B4-BE49-F238E27FC236}">
                  <a16:creationId xmlns:a16="http://schemas.microsoft.com/office/drawing/2014/main" id="{C0C7FD4E-B71E-2A8A-DE09-9ECE2CD3F15E}"/>
                </a:ext>
              </a:extLst>
            </p:cNvPr>
            <p:cNvGrpSpPr/>
            <p:nvPr/>
          </p:nvGrpSpPr>
          <p:grpSpPr>
            <a:xfrm>
              <a:off x="9980681" y="121101"/>
              <a:ext cx="1499616" cy="455423"/>
              <a:chOff x="9980681" y="121101"/>
              <a:chExt cx="1499616" cy="455423"/>
            </a:xfrm>
          </p:grpSpPr>
          <p:sp>
            <p:nvSpPr>
              <p:cNvPr id="44" name="Прямоугольник: скругленные углы 43">
                <a:extLst>
                  <a:ext uri="{FF2B5EF4-FFF2-40B4-BE49-F238E27FC236}">
                    <a16:creationId xmlns:a16="http://schemas.microsoft.com/office/drawing/2014/main" id="{03EFCE3B-C204-8179-87F8-7ED4DB9E261D}"/>
                  </a:ext>
                </a:extLst>
              </p:cNvPr>
              <p:cNvSpPr/>
              <p:nvPr/>
            </p:nvSpPr>
            <p:spPr>
              <a:xfrm>
                <a:off x="9980681" y="1211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1098E40-8708-6C9A-29E7-0FE1642B7844}"/>
                  </a:ext>
                </a:extLst>
              </p:cNvPr>
              <p:cNvSpPr txBox="1"/>
              <p:nvPr/>
            </p:nvSpPr>
            <p:spPr>
              <a:xfrm>
                <a:off x="10200943" y="16360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Вывод</a:t>
                </a:r>
              </a:p>
            </p:txBody>
          </p:sp>
        </p:grpSp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C19658CF-44BB-5253-FE2C-9EFAD23FE19B}"/>
                </a:ext>
              </a:extLst>
            </p:cNvPr>
            <p:cNvGrpSpPr/>
            <p:nvPr/>
          </p:nvGrpSpPr>
          <p:grpSpPr>
            <a:xfrm>
              <a:off x="3426202" y="118800"/>
              <a:ext cx="1681850" cy="455423"/>
              <a:chOff x="3426202" y="118800"/>
              <a:chExt cx="1681850" cy="455423"/>
            </a:xfrm>
          </p:grpSpPr>
          <p:sp>
            <p:nvSpPr>
              <p:cNvPr id="42" name="Прямоугольник: скругленные углы 41">
                <a:extLst>
                  <a:ext uri="{FF2B5EF4-FFF2-40B4-BE49-F238E27FC236}">
                    <a16:creationId xmlns:a16="http://schemas.microsoft.com/office/drawing/2014/main" id="{3D655CAD-F851-7BA0-0F2E-94813EC43741}"/>
                  </a:ext>
                </a:extLst>
              </p:cNvPr>
              <p:cNvSpPr/>
              <p:nvPr/>
            </p:nvSpPr>
            <p:spPr>
              <a:xfrm>
                <a:off x="3440324" y="118800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F8A791C-5E57-A697-67A4-981A665A0CB1}"/>
                  </a:ext>
                </a:extLst>
              </p:cNvPr>
              <p:cNvSpPr txBox="1"/>
              <p:nvPr/>
            </p:nvSpPr>
            <p:spPr>
              <a:xfrm>
                <a:off x="3426202" y="171900"/>
                <a:ext cx="1681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Введение</a:t>
                </a:r>
              </a:p>
            </p:txBody>
          </p:sp>
        </p:grpSp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12B9869D-E7EF-2779-B31D-E8886F6518F3}"/>
                </a:ext>
              </a:extLst>
            </p:cNvPr>
            <p:cNvGrpSpPr/>
            <p:nvPr/>
          </p:nvGrpSpPr>
          <p:grpSpPr>
            <a:xfrm>
              <a:off x="6710502" y="120807"/>
              <a:ext cx="1584404" cy="455423"/>
              <a:chOff x="6710502" y="120807"/>
              <a:chExt cx="1584404" cy="455423"/>
            </a:xfrm>
          </p:grpSpPr>
          <p:sp>
            <p:nvSpPr>
              <p:cNvPr id="40" name="Прямоугольник: скругленные углы 39">
                <a:extLst>
                  <a:ext uri="{FF2B5EF4-FFF2-40B4-BE49-F238E27FC236}">
                    <a16:creationId xmlns:a16="http://schemas.microsoft.com/office/drawing/2014/main" id="{AEEE0358-E9F3-5D97-9F33-756D6850E5CA}"/>
                  </a:ext>
                </a:extLst>
              </p:cNvPr>
              <p:cNvSpPr/>
              <p:nvPr/>
            </p:nvSpPr>
            <p:spPr>
              <a:xfrm>
                <a:off x="6710502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/>
              </a:solidFill>
              <a:ln w="25400">
                <a:solidFill>
                  <a:srgbClr val="8A8A8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EBA6914-A724-98DF-2794-4ECF189A913D}"/>
                  </a:ext>
                </a:extLst>
              </p:cNvPr>
              <p:cNvSpPr txBox="1"/>
              <p:nvPr/>
            </p:nvSpPr>
            <p:spPr>
              <a:xfrm>
                <a:off x="6795291" y="143041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Функции</a:t>
                </a:r>
              </a:p>
            </p:txBody>
          </p:sp>
        </p:grpSp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26DE2B3B-D2E1-3C93-0060-4D1D0A933075}"/>
                </a:ext>
              </a:extLst>
            </p:cNvPr>
            <p:cNvGrpSpPr/>
            <p:nvPr/>
          </p:nvGrpSpPr>
          <p:grpSpPr>
            <a:xfrm>
              <a:off x="5075413" y="118801"/>
              <a:ext cx="1524958" cy="455423"/>
              <a:chOff x="5075413" y="118801"/>
              <a:chExt cx="1524958" cy="455423"/>
            </a:xfrm>
          </p:grpSpPr>
          <p:sp>
            <p:nvSpPr>
              <p:cNvPr id="38" name="Прямоугольник: скругленные углы 37">
                <a:extLst>
                  <a:ext uri="{FF2B5EF4-FFF2-40B4-BE49-F238E27FC236}">
                    <a16:creationId xmlns:a16="http://schemas.microsoft.com/office/drawing/2014/main" id="{6F64B42B-7B36-9C31-C3E5-9512CF16C92D}"/>
                  </a:ext>
                </a:extLst>
              </p:cNvPr>
              <p:cNvSpPr/>
              <p:nvPr/>
            </p:nvSpPr>
            <p:spPr>
              <a:xfrm>
                <a:off x="5075413" y="1188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7EE8A1-373B-01DE-35C0-6BCA6C1B40A7}"/>
                  </a:ext>
                </a:extLst>
              </p:cNvPr>
              <p:cNvSpPr txBox="1"/>
              <p:nvPr/>
            </p:nvSpPr>
            <p:spPr>
              <a:xfrm>
                <a:off x="5393363" y="14304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Окна</a:t>
                </a:r>
              </a:p>
            </p:txBody>
          </p:sp>
        </p:grp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AE7B9487-8AC1-B2A5-DD71-8001A0D2B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63" y="132823"/>
              <a:ext cx="1562377" cy="400110"/>
            </a:xfrm>
            <a:prstGeom prst="rect">
              <a:avLst/>
            </a:prstGeom>
          </p:spPr>
        </p:pic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E9AA69F3-00DF-D38B-3E49-89FDBCBAFDD0}"/>
                </a:ext>
              </a:extLst>
            </p:cNvPr>
            <p:cNvGrpSpPr/>
            <p:nvPr/>
          </p:nvGrpSpPr>
          <p:grpSpPr>
            <a:xfrm>
              <a:off x="8345591" y="120807"/>
              <a:ext cx="1676011" cy="455423"/>
              <a:chOff x="8345591" y="120807"/>
              <a:chExt cx="1676011" cy="455423"/>
            </a:xfrm>
          </p:grpSpPr>
          <p:sp>
            <p:nvSpPr>
              <p:cNvPr id="36" name="Прямоугольник: скругленные углы 35">
                <a:extLst>
                  <a:ext uri="{FF2B5EF4-FFF2-40B4-BE49-F238E27FC236}">
                    <a16:creationId xmlns:a16="http://schemas.microsoft.com/office/drawing/2014/main" id="{E40924EB-DBC7-029E-B9F0-7083DEFB23E7}"/>
                  </a:ext>
                </a:extLst>
              </p:cNvPr>
              <p:cNvSpPr/>
              <p:nvPr/>
            </p:nvSpPr>
            <p:spPr>
              <a:xfrm>
                <a:off x="8345591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2BE8EDE-6120-FB60-2E40-65B63798AC1B}"/>
                  </a:ext>
                </a:extLst>
              </p:cNvPr>
              <p:cNvSpPr txBox="1"/>
              <p:nvPr/>
            </p:nvSpPr>
            <p:spPr>
              <a:xfrm>
                <a:off x="8521987" y="161845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Файлы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93159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F382-EEDE-3E39-28BB-3D92EE4E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CB26446-01D9-298D-313B-E0292064494D}"/>
              </a:ext>
            </a:extLst>
          </p:cNvPr>
          <p:cNvSpPr txBox="1"/>
          <p:nvPr/>
        </p:nvSpPr>
        <p:spPr>
          <a:xfrm>
            <a:off x="1543333" y="1348824"/>
            <a:ext cx="37657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inecraft" panose="00000400000000000000" pitchFamily="2" charset="0"/>
              </a:rPr>
              <a:t>Появление зомби ночью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94F1EE16-C61A-E0CE-520A-1B167066E04F}"/>
              </a:ext>
            </a:extLst>
          </p:cNvPr>
          <p:cNvGrpSpPr/>
          <p:nvPr/>
        </p:nvGrpSpPr>
        <p:grpSpPr>
          <a:xfrm>
            <a:off x="0" y="2971"/>
            <a:ext cx="12192000" cy="697038"/>
            <a:chOff x="0" y="0"/>
            <a:chExt cx="12192000" cy="697038"/>
          </a:xfrm>
        </p:grpSpPr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1498A9F5-CD9D-C2DA-7159-5FDFFBC5337D}"/>
                </a:ext>
              </a:extLst>
            </p:cNvPr>
            <p:cNvSpPr/>
            <p:nvPr/>
          </p:nvSpPr>
          <p:spPr>
            <a:xfrm>
              <a:off x="0" y="0"/>
              <a:ext cx="12192000" cy="697038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29" name="Picture 8" descr="Picture background">
              <a:extLst>
                <a:ext uri="{FF2B5EF4-FFF2-40B4-BE49-F238E27FC236}">
                  <a16:creationId xmlns:a16="http://schemas.microsoft.com/office/drawing/2014/main" id="{03C92489-B59D-7B89-B712-17972044BE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97" t="7618" r="8487" b="7687"/>
            <a:stretch>
              <a:fillRect/>
            </a:stretch>
          </p:blipFill>
          <p:spPr bwMode="auto">
            <a:xfrm>
              <a:off x="11629891" y="121101"/>
              <a:ext cx="412515" cy="4554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0" name="Группа 29">
              <a:extLst>
                <a:ext uri="{FF2B5EF4-FFF2-40B4-BE49-F238E27FC236}">
                  <a16:creationId xmlns:a16="http://schemas.microsoft.com/office/drawing/2014/main" id="{F854EB44-14D2-E654-68DF-08855D7C1B9A}"/>
                </a:ext>
              </a:extLst>
            </p:cNvPr>
            <p:cNvGrpSpPr/>
            <p:nvPr/>
          </p:nvGrpSpPr>
          <p:grpSpPr>
            <a:xfrm>
              <a:off x="9980681" y="121101"/>
              <a:ext cx="1499616" cy="455423"/>
              <a:chOff x="9980681" y="121101"/>
              <a:chExt cx="1499616" cy="455423"/>
            </a:xfrm>
          </p:grpSpPr>
          <p:sp>
            <p:nvSpPr>
              <p:cNvPr id="44" name="Прямоугольник: скругленные углы 43">
                <a:extLst>
                  <a:ext uri="{FF2B5EF4-FFF2-40B4-BE49-F238E27FC236}">
                    <a16:creationId xmlns:a16="http://schemas.microsoft.com/office/drawing/2014/main" id="{ACD05D2B-03A4-1C5F-CAC6-4D32513EB894}"/>
                  </a:ext>
                </a:extLst>
              </p:cNvPr>
              <p:cNvSpPr/>
              <p:nvPr/>
            </p:nvSpPr>
            <p:spPr>
              <a:xfrm>
                <a:off x="9980681" y="1211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C110670-2FF9-B026-51C0-84298824CEAD}"/>
                  </a:ext>
                </a:extLst>
              </p:cNvPr>
              <p:cNvSpPr txBox="1"/>
              <p:nvPr/>
            </p:nvSpPr>
            <p:spPr>
              <a:xfrm>
                <a:off x="10200943" y="16360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Вывод</a:t>
                </a:r>
              </a:p>
            </p:txBody>
          </p:sp>
        </p:grpSp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5DA0C8D2-5B62-5871-22E6-E70E86D8ED76}"/>
                </a:ext>
              </a:extLst>
            </p:cNvPr>
            <p:cNvGrpSpPr/>
            <p:nvPr/>
          </p:nvGrpSpPr>
          <p:grpSpPr>
            <a:xfrm>
              <a:off x="3426202" y="118800"/>
              <a:ext cx="1681850" cy="455423"/>
              <a:chOff x="3426202" y="118800"/>
              <a:chExt cx="1681850" cy="455423"/>
            </a:xfrm>
          </p:grpSpPr>
          <p:sp>
            <p:nvSpPr>
              <p:cNvPr id="42" name="Прямоугольник: скругленные углы 41">
                <a:extLst>
                  <a:ext uri="{FF2B5EF4-FFF2-40B4-BE49-F238E27FC236}">
                    <a16:creationId xmlns:a16="http://schemas.microsoft.com/office/drawing/2014/main" id="{B90B84D9-E4C0-8F0B-3D2D-37419E7B62E7}"/>
                  </a:ext>
                </a:extLst>
              </p:cNvPr>
              <p:cNvSpPr/>
              <p:nvPr/>
            </p:nvSpPr>
            <p:spPr>
              <a:xfrm>
                <a:off x="3440324" y="118800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CE71782-9DFD-FE86-6E48-59E09CE81C40}"/>
                  </a:ext>
                </a:extLst>
              </p:cNvPr>
              <p:cNvSpPr txBox="1"/>
              <p:nvPr/>
            </p:nvSpPr>
            <p:spPr>
              <a:xfrm>
                <a:off x="3426202" y="171900"/>
                <a:ext cx="1681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Введение</a:t>
                </a:r>
              </a:p>
            </p:txBody>
          </p:sp>
        </p:grpSp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4E6B7636-947A-EDC2-65AA-C670DC9646FD}"/>
                </a:ext>
              </a:extLst>
            </p:cNvPr>
            <p:cNvGrpSpPr/>
            <p:nvPr/>
          </p:nvGrpSpPr>
          <p:grpSpPr>
            <a:xfrm>
              <a:off x="6710502" y="120807"/>
              <a:ext cx="1584404" cy="455423"/>
              <a:chOff x="6710502" y="120807"/>
              <a:chExt cx="1584404" cy="455423"/>
            </a:xfrm>
          </p:grpSpPr>
          <p:sp>
            <p:nvSpPr>
              <p:cNvPr id="40" name="Прямоугольник: скругленные углы 39">
                <a:extLst>
                  <a:ext uri="{FF2B5EF4-FFF2-40B4-BE49-F238E27FC236}">
                    <a16:creationId xmlns:a16="http://schemas.microsoft.com/office/drawing/2014/main" id="{E8953271-04F8-DD8A-A3EC-13040A2167BA}"/>
                  </a:ext>
                </a:extLst>
              </p:cNvPr>
              <p:cNvSpPr/>
              <p:nvPr/>
            </p:nvSpPr>
            <p:spPr>
              <a:xfrm>
                <a:off x="6710502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/>
              </a:solidFill>
              <a:ln w="25400">
                <a:solidFill>
                  <a:srgbClr val="8A8A8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D89B1DD-C009-45D0-4651-9EE7AF196208}"/>
                  </a:ext>
                </a:extLst>
              </p:cNvPr>
              <p:cNvSpPr txBox="1"/>
              <p:nvPr/>
            </p:nvSpPr>
            <p:spPr>
              <a:xfrm>
                <a:off x="6795291" y="143041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Функции</a:t>
                </a:r>
              </a:p>
            </p:txBody>
          </p:sp>
        </p:grpSp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E48B1EE4-E6E5-4444-4E96-9939DE40D8BF}"/>
                </a:ext>
              </a:extLst>
            </p:cNvPr>
            <p:cNvGrpSpPr/>
            <p:nvPr/>
          </p:nvGrpSpPr>
          <p:grpSpPr>
            <a:xfrm>
              <a:off x="5075413" y="118801"/>
              <a:ext cx="1524958" cy="455423"/>
              <a:chOff x="5075413" y="118801"/>
              <a:chExt cx="1524958" cy="455423"/>
            </a:xfrm>
          </p:grpSpPr>
          <p:sp>
            <p:nvSpPr>
              <p:cNvPr id="38" name="Прямоугольник: скругленные углы 37">
                <a:extLst>
                  <a:ext uri="{FF2B5EF4-FFF2-40B4-BE49-F238E27FC236}">
                    <a16:creationId xmlns:a16="http://schemas.microsoft.com/office/drawing/2014/main" id="{263A1C73-1C80-F0B9-76C5-9C1BD2E350A6}"/>
                  </a:ext>
                </a:extLst>
              </p:cNvPr>
              <p:cNvSpPr/>
              <p:nvPr/>
            </p:nvSpPr>
            <p:spPr>
              <a:xfrm>
                <a:off x="5075413" y="1188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FB0757D-453B-4A4B-993A-3022C2C03AA5}"/>
                  </a:ext>
                </a:extLst>
              </p:cNvPr>
              <p:cNvSpPr txBox="1"/>
              <p:nvPr/>
            </p:nvSpPr>
            <p:spPr>
              <a:xfrm>
                <a:off x="5393363" y="14304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Окна</a:t>
                </a:r>
              </a:p>
            </p:txBody>
          </p:sp>
        </p:grp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465EDE3C-7D70-63F3-2A98-1A8EAD6F9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63" y="132823"/>
              <a:ext cx="1562377" cy="400110"/>
            </a:xfrm>
            <a:prstGeom prst="rect">
              <a:avLst/>
            </a:prstGeom>
          </p:spPr>
        </p:pic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FD0121ED-CE95-861C-92AF-529445ADAC76}"/>
                </a:ext>
              </a:extLst>
            </p:cNvPr>
            <p:cNvGrpSpPr/>
            <p:nvPr/>
          </p:nvGrpSpPr>
          <p:grpSpPr>
            <a:xfrm>
              <a:off x="8345591" y="120807"/>
              <a:ext cx="1676011" cy="455423"/>
              <a:chOff x="8345591" y="120807"/>
              <a:chExt cx="1676011" cy="455423"/>
            </a:xfrm>
          </p:grpSpPr>
          <p:sp>
            <p:nvSpPr>
              <p:cNvPr id="36" name="Прямоугольник: скругленные углы 35">
                <a:extLst>
                  <a:ext uri="{FF2B5EF4-FFF2-40B4-BE49-F238E27FC236}">
                    <a16:creationId xmlns:a16="http://schemas.microsoft.com/office/drawing/2014/main" id="{4D6CB4FC-893D-7BA5-15D7-BDA1D3FB83D7}"/>
                  </a:ext>
                </a:extLst>
              </p:cNvPr>
              <p:cNvSpPr/>
              <p:nvPr/>
            </p:nvSpPr>
            <p:spPr>
              <a:xfrm>
                <a:off x="8345591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4477BB-11F2-729F-EE88-8B4B1DAEF387}"/>
                  </a:ext>
                </a:extLst>
              </p:cNvPr>
              <p:cNvSpPr txBox="1"/>
              <p:nvPr/>
            </p:nvSpPr>
            <p:spPr>
              <a:xfrm>
                <a:off x="8521987" y="161845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Файлы</a:t>
                </a:r>
              </a:p>
            </p:txBody>
          </p:sp>
        </p:grp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82E460B-3539-88A2-3FA0-0F923F8977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8" t="20654" r="51059" b="10666"/>
          <a:stretch>
            <a:fillRect/>
          </a:stretch>
        </p:blipFill>
        <p:spPr bwMode="auto">
          <a:xfrm>
            <a:off x="6655931" y="1412360"/>
            <a:ext cx="4594896" cy="48315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588FA8-E07B-3767-6FC9-E37E96E809A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53" t="20654" r="51206" b="11185"/>
          <a:stretch>
            <a:fillRect/>
          </a:stretch>
        </p:blipFill>
        <p:spPr bwMode="auto">
          <a:xfrm>
            <a:off x="1560050" y="2647769"/>
            <a:ext cx="3445760" cy="359618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25087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AF83-A689-046E-FB4F-9AA0FA62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1F9C0C8-1C4E-04B2-203B-331103F459C7}"/>
              </a:ext>
            </a:extLst>
          </p:cNvPr>
          <p:cNvSpPr txBox="1"/>
          <p:nvPr/>
        </p:nvSpPr>
        <p:spPr>
          <a:xfrm>
            <a:off x="4120770" y="1569997"/>
            <a:ext cx="4265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Minecraft" panose="00000400000000000000" pitchFamily="2" charset="0"/>
              </a:rPr>
              <a:t>Сохранение игры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6DBC6C-31CF-F797-D171-2691CA29324D}"/>
              </a:ext>
            </a:extLst>
          </p:cNvPr>
          <p:cNvSpPr txBox="1"/>
          <p:nvPr/>
        </p:nvSpPr>
        <p:spPr>
          <a:xfrm>
            <a:off x="7020186" y="5397518"/>
            <a:ext cx="5650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Позиция и состояние игрока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9605EF-B9E0-4002-A757-EBE17E33A2D0}"/>
              </a:ext>
            </a:extLst>
          </p:cNvPr>
          <p:cNvSpPr txBox="1"/>
          <p:nvPr/>
        </p:nvSpPr>
        <p:spPr>
          <a:xfrm>
            <a:off x="7020186" y="4464293"/>
            <a:ext cx="5650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Весь инвентарь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09BA96-AFD1-0575-265D-748EE939D57A}"/>
              </a:ext>
            </a:extLst>
          </p:cNvPr>
          <p:cNvSpPr txBox="1"/>
          <p:nvPr/>
        </p:nvSpPr>
        <p:spPr>
          <a:xfrm>
            <a:off x="789511" y="4464293"/>
            <a:ext cx="5650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Полное состояние мира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EA1C877A-6355-457C-5A14-47149371A5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6538005" y="4564549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ABBD34D8-09B0-22B4-DF15-FAC1EB888E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343016" y="4542532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>
            <a:extLst>
              <a:ext uri="{FF2B5EF4-FFF2-40B4-BE49-F238E27FC236}">
                <a16:creationId xmlns:a16="http://schemas.microsoft.com/office/drawing/2014/main" id="{57B68027-7A4F-6BBA-DE33-5C2E494F6F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358654" y="5485387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1AE9F7-290F-CEA8-4B13-CF5B6AE5E28F}"/>
              </a:ext>
            </a:extLst>
          </p:cNvPr>
          <p:cNvSpPr txBox="1"/>
          <p:nvPr/>
        </p:nvSpPr>
        <p:spPr>
          <a:xfrm>
            <a:off x="789509" y="5397518"/>
            <a:ext cx="5650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Позиции монстров</a:t>
            </a:r>
          </a:p>
          <a:p>
            <a:endParaRPr lang="ru-RU" sz="2400" dirty="0">
              <a:latin typeface="Montserrat" panose="00000500000000000000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278700-F41D-FD5A-1349-799F53FC4550}"/>
              </a:ext>
            </a:extLst>
          </p:cNvPr>
          <p:cNvSpPr txBox="1"/>
          <p:nvPr/>
        </p:nvSpPr>
        <p:spPr>
          <a:xfrm>
            <a:off x="4530418" y="3468858"/>
            <a:ext cx="3131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Montserrat" panose="00000500000000000000" pitchFamily="2" charset="-52"/>
              </a:rPr>
              <a:t>Что сохраняется: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7B78686-10EE-881E-B931-A16A0CDB8E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6538005" y="5485387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411636-4663-4E67-7E8E-F92AA1938CDF}"/>
              </a:ext>
            </a:extLst>
          </p:cNvPr>
          <p:cNvSpPr txBox="1"/>
          <p:nvPr/>
        </p:nvSpPr>
        <p:spPr>
          <a:xfrm>
            <a:off x="3016189" y="2288595"/>
            <a:ext cx="5961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Сохранение в файл </a:t>
            </a:r>
            <a:r>
              <a:rPr lang="en-US" sz="2400" b="1" dirty="0" err="1">
                <a:latin typeface="Montserrat" panose="00000500000000000000" pitchFamily="2" charset="-52"/>
              </a:rPr>
              <a:t>game_save.json</a:t>
            </a:r>
            <a:endParaRPr lang="ru-RU" sz="2400" b="1" dirty="0">
              <a:latin typeface="Montserrat" panose="00000500000000000000" pitchFamily="2" charset="-52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BD5C85D-FED8-7469-9C56-76BB230366B4}"/>
              </a:ext>
            </a:extLst>
          </p:cNvPr>
          <p:cNvGrpSpPr/>
          <p:nvPr/>
        </p:nvGrpSpPr>
        <p:grpSpPr>
          <a:xfrm>
            <a:off x="0" y="-19440"/>
            <a:ext cx="12192000" cy="697038"/>
            <a:chOff x="0" y="0"/>
            <a:chExt cx="12192000" cy="697038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E80E1C81-1EA2-4AB7-C0BE-F43D87195AA5}"/>
                </a:ext>
              </a:extLst>
            </p:cNvPr>
            <p:cNvSpPr/>
            <p:nvPr/>
          </p:nvSpPr>
          <p:spPr>
            <a:xfrm>
              <a:off x="0" y="0"/>
              <a:ext cx="12192000" cy="697038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5" name="Picture 8" descr="Picture background">
              <a:extLst>
                <a:ext uri="{FF2B5EF4-FFF2-40B4-BE49-F238E27FC236}">
                  <a16:creationId xmlns:a16="http://schemas.microsoft.com/office/drawing/2014/main" id="{3784FF4F-D57C-49A1-9158-9F4389A05D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97" t="7618" r="8487" b="7687"/>
            <a:stretch>
              <a:fillRect/>
            </a:stretch>
          </p:blipFill>
          <p:spPr bwMode="auto">
            <a:xfrm>
              <a:off x="11629891" y="121101"/>
              <a:ext cx="412515" cy="4554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F42CE683-0D06-9D48-44B7-FE7C5808405B}"/>
                </a:ext>
              </a:extLst>
            </p:cNvPr>
            <p:cNvGrpSpPr/>
            <p:nvPr/>
          </p:nvGrpSpPr>
          <p:grpSpPr>
            <a:xfrm>
              <a:off x="9980681" y="121101"/>
              <a:ext cx="1499616" cy="455423"/>
              <a:chOff x="9980681" y="121101"/>
              <a:chExt cx="1499616" cy="455423"/>
            </a:xfrm>
          </p:grpSpPr>
          <p:sp>
            <p:nvSpPr>
              <p:cNvPr id="42" name="Прямоугольник: скругленные углы 41">
                <a:extLst>
                  <a:ext uri="{FF2B5EF4-FFF2-40B4-BE49-F238E27FC236}">
                    <a16:creationId xmlns:a16="http://schemas.microsoft.com/office/drawing/2014/main" id="{DFA3DB51-A94D-8561-0C03-908FBB21D3EA}"/>
                  </a:ext>
                </a:extLst>
              </p:cNvPr>
              <p:cNvSpPr/>
              <p:nvPr/>
            </p:nvSpPr>
            <p:spPr>
              <a:xfrm>
                <a:off x="9980681" y="1211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1DA5963-BD92-D7F5-34A3-D9CC10CC9C7C}"/>
                  </a:ext>
                </a:extLst>
              </p:cNvPr>
              <p:cNvSpPr txBox="1"/>
              <p:nvPr/>
            </p:nvSpPr>
            <p:spPr>
              <a:xfrm>
                <a:off x="10200943" y="16360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Вывод</a:t>
                </a:r>
              </a:p>
            </p:txBody>
          </p:sp>
        </p:grpSp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48D1967D-2E1D-ECD3-83F4-EFAC07D824E2}"/>
                </a:ext>
              </a:extLst>
            </p:cNvPr>
            <p:cNvGrpSpPr/>
            <p:nvPr/>
          </p:nvGrpSpPr>
          <p:grpSpPr>
            <a:xfrm>
              <a:off x="3426202" y="118800"/>
              <a:ext cx="1681850" cy="455423"/>
              <a:chOff x="3426202" y="118800"/>
              <a:chExt cx="1681850" cy="455423"/>
            </a:xfrm>
          </p:grpSpPr>
          <p:sp>
            <p:nvSpPr>
              <p:cNvPr id="40" name="Прямоугольник: скругленные углы 39">
                <a:extLst>
                  <a:ext uri="{FF2B5EF4-FFF2-40B4-BE49-F238E27FC236}">
                    <a16:creationId xmlns:a16="http://schemas.microsoft.com/office/drawing/2014/main" id="{98B8B6A8-F102-98D9-9798-C900C41DAA45}"/>
                  </a:ext>
                </a:extLst>
              </p:cNvPr>
              <p:cNvSpPr/>
              <p:nvPr/>
            </p:nvSpPr>
            <p:spPr>
              <a:xfrm>
                <a:off x="3440324" y="118800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2277A4D-AC38-6707-83C7-7FF83F40EBBA}"/>
                  </a:ext>
                </a:extLst>
              </p:cNvPr>
              <p:cNvSpPr txBox="1"/>
              <p:nvPr/>
            </p:nvSpPr>
            <p:spPr>
              <a:xfrm>
                <a:off x="3426202" y="171900"/>
                <a:ext cx="1681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Введение</a:t>
                </a:r>
              </a:p>
            </p:txBody>
          </p:sp>
        </p:grpSp>
        <p:grpSp>
          <p:nvGrpSpPr>
            <p:cNvPr id="30" name="Группа 29">
              <a:extLst>
                <a:ext uri="{FF2B5EF4-FFF2-40B4-BE49-F238E27FC236}">
                  <a16:creationId xmlns:a16="http://schemas.microsoft.com/office/drawing/2014/main" id="{74383F79-9F19-EA75-F41F-B7A24A0686FF}"/>
                </a:ext>
              </a:extLst>
            </p:cNvPr>
            <p:cNvGrpSpPr/>
            <p:nvPr/>
          </p:nvGrpSpPr>
          <p:grpSpPr>
            <a:xfrm>
              <a:off x="6710502" y="120807"/>
              <a:ext cx="1584404" cy="455423"/>
              <a:chOff x="6710502" y="120807"/>
              <a:chExt cx="1584404" cy="455423"/>
            </a:xfrm>
          </p:grpSpPr>
          <p:sp>
            <p:nvSpPr>
              <p:cNvPr id="38" name="Прямоугольник: скругленные углы 37">
                <a:extLst>
                  <a:ext uri="{FF2B5EF4-FFF2-40B4-BE49-F238E27FC236}">
                    <a16:creationId xmlns:a16="http://schemas.microsoft.com/office/drawing/2014/main" id="{70134EBD-B413-333E-2EF4-5D63B40214D5}"/>
                  </a:ext>
                </a:extLst>
              </p:cNvPr>
              <p:cNvSpPr/>
              <p:nvPr/>
            </p:nvSpPr>
            <p:spPr>
              <a:xfrm>
                <a:off x="6710502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/>
              </a:solidFill>
              <a:ln w="25400">
                <a:solidFill>
                  <a:srgbClr val="8A8A8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13FC101-9375-72AD-A029-3AFF4463961D}"/>
                  </a:ext>
                </a:extLst>
              </p:cNvPr>
              <p:cNvSpPr txBox="1"/>
              <p:nvPr/>
            </p:nvSpPr>
            <p:spPr>
              <a:xfrm>
                <a:off x="6795291" y="143041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Функции</a:t>
                </a:r>
              </a:p>
            </p:txBody>
          </p:sp>
        </p:grpSp>
        <p:grpSp>
          <p:nvGrpSpPr>
            <p:cNvPr id="31" name="Группа 30">
              <a:extLst>
                <a:ext uri="{FF2B5EF4-FFF2-40B4-BE49-F238E27FC236}">
                  <a16:creationId xmlns:a16="http://schemas.microsoft.com/office/drawing/2014/main" id="{ADC92188-6755-E3BE-422C-FA45E8765F05}"/>
                </a:ext>
              </a:extLst>
            </p:cNvPr>
            <p:cNvGrpSpPr/>
            <p:nvPr/>
          </p:nvGrpSpPr>
          <p:grpSpPr>
            <a:xfrm>
              <a:off x="5075413" y="118801"/>
              <a:ext cx="1524958" cy="455423"/>
              <a:chOff x="5075413" y="118801"/>
              <a:chExt cx="1524958" cy="455423"/>
            </a:xfrm>
          </p:grpSpPr>
          <p:sp>
            <p:nvSpPr>
              <p:cNvPr id="36" name="Прямоугольник: скругленные углы 35">
                <a:extLst>
                  <a:ext uri="{FF2B5EF4-FFF2-40B4-BE49-F238E27FC236}">
                    <a16:creationId xmlns:a16="http://schemas.microsoft.com/office/drawing/2014/main" id="{25E0BA92-2502-F1F3-40BB-154ABB87135D}"/>
                  </a:ext>
                </a:extLst>
              </p:cNvPr>
              <p:cNvSpPr/>
              <p:nvPr/>
            </p:nvSpPr>
            <p:spPr>
              <a:xfrm>
                <a:off x="5075413" y="1188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E29BB80-1F01-F1D7-6448-BD8C8C9C7C34}"/>
                  </a:ext>
                </a:extLst>
              </p:cNvPr>
              <p:cNvSpPr txBox="1"/>
              <p:nvPr/>
            </p:nvSpPr>
            <p:spPr>
              <a:xfrm>
                <a:off x="5393363" y="14304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Окна</a:t>
                </a:r>
              </a:p>
            </p:txBody>
          </p:sp>
        </p:grpSp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E957B453-DB7E-6946-DFF1-00265D4C2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63" y="132823"/>
              <a:ext cx="1562377" cy="400110"/>
            </a:xfrm>
            <a:prstGeom prst="rect">
              <a:avLst/>
            </a:prstGeom>
          </p:spPr>
        </p:pic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21BDC957-C018-E076-6A20-380F9828B7BC}"/>
                </a:ext>
              </a:extLst>
            </p:cNvPr>
            <p:cNvGrpSpPr/>
            <p:nvPr/>
          </p:nvGrpSpPr>
          <p:grpSpPr>
            <a:xfrm>
              <a:off x="8345591" y="120807"/>
              <a:ext cx="1676011" cy="455423"/>
              <a:chOff x="8345591" y="120807"/>
              <a:chExt cx="1676011" cy="455423"/>
            </a:xfrm>
          </p:grpSpPr>
          <p:sp>
            <p:nvSpPr>
              <p:cNvPr id="34" name="Прямоугольник: скругленные углы 33">
                <a:extLst>
                  <a:ext uri="{FF2B5EF4-FFF2-40B4-BE49-F238E27FC236}">
                    <a16:creationId xmlns:a16="http://schemas.microsoft.com/office/drawing/2014/main" id="{585CD523-1F02-4649-5C52-C39F30A18CFA}"/>
                  </a:ext>
                </a:extLst>
              </p:cNvPr>
              <p:cNvSpPr/>
              <p:nvPr/>
            </p:nvSpPr>
            <p:spPr>
              <a:xfrm>
                <a:off x="8345591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81C675B-6047-69A2-7746-EEEECEF2E3FA}"/>
                  </a:ext>
                </a:extLst>
              </p:cNvPr>
              <p:cNvSpPr txBox="1"/>
              <p:nvPr/>
            </p:nvSpPr>
            <p:spPr>
              <a:xfrm>
                <a:off x="8521987" y="161845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Файлы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7305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3641E-A9F8-E6BD-9A82-259484CFE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588D37-0E7A-E12A-2018-D41C03F63FB5}"/>
              </a:ext>
            </a:extLst>
          </p:cNvPr>
          <p:cNvSpPr txBox="1"/>
          <p:nvPr/>
        </p:nvSpPr>
        <p:spPr>
          <a:xfrm>
            <a:off x="3645073" y="948896"/>
            <a:ext cx="5859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Minecraft" panose="00000400000000000000" pitchFamily="2" charset="0"/>
              </a:rPr>
              <a:t>Архитектура проекта</a:t>
            </a: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F010AA2F-59DD-AC20-C72F-C70D8FFD6805}"/>
              </a:ext>
            </a:extLst>
          </p:cNvPr>
          <p:cNvGrpSpPr/>
          <p:nvPr/>
        </p:nvGrpSpPr>
        <p:grpSpPr>
          <a:xfrm>
            <a:off x="922883" y="2236677"/>
            <a:ext cx="6086190" cy="4227671"/>
            <a:chOff x="683487" y="1842562"/>
            <a:chExt cx="6086190" cy="422767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543844B-EC85-1323-BE5A-9BDE046E8855}"/>
                </a:ext>
              </a:extLst>
            </p:cNvPr>
            <p:cNvSpPr txBox="1"/>
            <p:nvPr/>
          </p:nvSpPr>
          <p:spPr>
            <a:xfrm>
              <a:off x="683487" y="1842562"/>
              <a:ext cx="48081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🖥️ </a:t>
              </a:r>
              <a:r>
                <a:rPr lang="en-US" sz="2000" dirty="0" err="1">
                  <a:latin typeface="Montserrat" panose="00000500000000000000" pitchFamily="2" charset="-52"/>
                </a:rPr>
                <a:t>GameWindow</a:t>
              </a:r>
              <a:r>
                <a:rPr lang="en-US" sz="2000" dirty="0">
                  <a:latin typeface="Montserrat" panose="00000500000000000000" pitchFamily="2" charset="-52"/>
                </a:rPr>
                <a:t> (</a:t>
              </a:r>
              <a:r>
                <a:rPr lang="ru-RU" sz="2000" dirty="0">
                  <a:latin typeface="Montserrat" panose="00000500000000000000" pitchFamily="2" charset="-52"/>
                </a:rPr>
                <a:t>главный класс)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5F2EFD-A569-F9E1-3A5E-C6B182E3CF86}"/>
                </a:ext>
              </a:extLst>
            </p:cNvPr>
            <p:cNvSpPr txBox="1"/>
            <p:nvPr/>
          </p:nvSpPr>
          <p:spPr>
            <a:xfrm>
              <a:off x="1189174" y="2292657"/>
              <a:ext cx="23228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🎮 </a:t>
              </a:r>
              <a:r>
                <a:rPr lang="en-US" sz="2000" dirty="0">
                  <a:latin typeface="Montserrat" panose="00000500000000000000" pitchFamily="2" charset="-52"/>
                </a:rPr>
                <a:t>Hero (</a:t>
              </a:r>
              <a:r>
                <a:rPr lang="ru-RU" sz="2000" dirty="0">
                  <a:latin typeface="Montserrat" panose="00000500000000000000" pitchFamily="2" charset="-52"/>
                </a:rPr>
                <a:t>игрок)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5D6869-78EC-5015-5C05-7E6DE9138C0E}"/>
                </a:ext>
              </a:extLst>
            </p:cNvPr>
            <p:cNvSpPr txBox="1"/>
            <p:nvPr/>
          </p:nvSpPr>
          <p:spPr>
            <a:xfrm>
              <a:off x="1184742" y="3192263"/>
              <a:ext cx="49267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📦 </a:t>
              </a:r>
              <a:r>
                <a:rPr lang="en-US" sz="2000" dirty="0" err="1">
                  <a:latin typeface="Montserrat" panose="00000500000000000000" pitchFamily="2" charset="-52"/>
                </a:rPr>
                <a:t>InventorySystem</a:t>
              </a:r>
              <a:r>
                <a:rPr lang="en-US" sz="2000" dirty="0">
                  <a:latin typeface="Montserrat" panose="00000500000000000000" pitchFamily="2" charset="-52"/>
                </a:rPr>
                <a:t> (</a:t>
              </a:r>
              <a:r>
                <a:rPr lang="ru-RU" sz="2000" dirty="0">
                  <a:latin typeface="Montserrat" panose="00000500000000000000" pitchFamily="2" charset="-52"/>
                </a:rPr>
                <a:t>инвентарь)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8CA286-A480-4982-2B10-5FEF49DCBF93}"/>
                </a:ext>
              </a:extLst>
            </p:cNvPr>
            <p:cNvSpPr txBox="1"/>
            <p:nvPr/>
          </p:nvSpPr>
          <p:spPr>
            <a:xfrm>
              <a:off x="1189174" y="2742460"/>
              <a:ext cx="34694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👾 </a:t>
              </a:r>
              <a:r>
                <a:rPr lang="en-US" sz="2000" dirty="0">
                  <a:latin typeface="Montserrat" panose="00000500000000000000" pitchFamily="2" charset="-52"/>
                </a:rPr>
                <a:t>Monster (</a:t>
              </a:r>
              <a:r>
                <a:rPr lang="ru-RU" sz="2000" dirty="0">
                  <a:latin typeface="Montserrat" panose="00000500000000000000" pitchFamily="2" charset="-52"/>
                </a:rPr>
                <a:t>враг)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496A0B-5579-B8BE-BFBF-2545688120D4}"/>
                </a:ext>
              </a:extLst>
            </p:cNvPr>
            <p:cNvSpPr txBox="1"/>
            <p:nvPr/>
          </p:nvSpPr>
          <p:spPr>
            <a:xfrm>
              <a:off x="1703206" y="3631461"/>
              <a:ext cx="40654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🛠 </a:t>
              </a:r>
              <a:r>
                <a:rPr lang="en-US" sz="2000" dirty="0" err="1">
                  <a:latin typeface="Montserrat" panose="00000500000000000000" pitchFamily="2" charset="-52"/>
                </a:rPr>
                <a:t>CraftingWindow</a:t>
              </a:r>
              <a:r>
                <a:rPr lang="en-US" sz="2000" dirty="0">
                  <a:latin typeface="Montserrat" panose="00000500000000000000" pitchFamily="2" charset="-52"/>
                </a:rPr>
                <a:t> (</a:t>
              </a:r>
              <a:r>
                <a:rPr lang="ru-RU" sz="2000" dirty="0">
                  <a:latin typeface="Montserrat" panose="00000500000000000000" pitchFamily="2" charset="-52"/>
                </a:rPr>
                <a:t>крафт)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5F7B22-01AF-0C48-D95C-BE4D7A9B8980}"/>
                </a:ext>
              </a:extLst>
            </p:cNvPr>
            <p:cNvSpPr txBox="1"/>
            <p:nvPr/>
          </p:nvSpPr>
          <p:spPr>
            <a:xfrm>
              <a:off x="1180409" y="4618544"/>
              <a:ext cx="55892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🧱 </a:t>
              </a:r>
              <a:r>
                <a:rPr lang="en-US" sz="2000" dirty="0">
                  <a:latin typeface="Montserrat" panose="00000500000000000000" pitchFamily="2" charset="-52"/>
                </a:rPr>
                <a:t>Crack (</a:t>
              </a:r>
              <a:r>
                <a:rPr lang="ru-RU" sz="2000" dirty="0">
                  <a:latin typeface="Montserrat" panose="00000500000000000000" pitchFamily="2" charset="-52"/>
                </a:rPr>
                <a:t>анимация разрушения)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9AE3772-7EFE-6225-F4CF-EAC111BD9957}"/>
                </a:ext>
              </a:extLst>
            </p:cNvPr>
            <p:cNvSpPr txBox="1"/>
            <p:nvPr/>
          </p:nvSpPr>
          <p:spPr>
            <a:xfrm>
              <a:off x="2248504" y="4091869"/>
              <a:ext cx="40654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📍 </a:t>
              </a:r>
              <a:r>
                <a:rPr lang="en-US" sz="2000" dirty="0" err="1">
                  <a:latin typeface="Montserrat" panose="00000500000000000000" pitchFamily="2" charset="-52"/>
                </a:rPr>
                <a:t>InventorySlot</a:t>
              </a:r>
              <a:r>
                <a:rPr lang="en-US" sz="2000" dirty="0">
                  <a:latin typeface="Montserrat" panose="00000500000000000000" pitchFamily="2" charset="-52"/>
                </a:rPr>
                <a:t> (</a:t>
              </a:r>
              <a:r>
                <a:rPr lang="ru-RU" sz="2000" dirty="0">
                  <a:latin typeface="Montserrat" panose="00000500000000000000" pitchFamily="2" charset="-52"/>
                </a:rPr>
                <a:t>слоты)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AC472B1-2833-154A-E4F1-121DB810C68B}"/>
                </a:ext>
              </a:extLst>
            </p:cNvPr>
            <p:cNvSpPr txBox="1"/>
            <p:nvPr/>
          </p:nvSpPr>
          <p:spPr>
            <a:xfrm>
              <a:off x="1189174" y="5132843"/>
              <a:ext cx="40654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⏸️ </a:t>
              </a:r>
              <a:r>
                <a:rPr lang="en-US" sz="2000" dirty="0" err="1">
                  <a:latin typeface="Montserrat" panose="00000500000000000000" pitchFamily="2" charset="-52"/>
                </a:rPr>
                <a:t>PauseScreen</a:t>
              </a:r>
              <a:r>
                <a:rPr lang="en-US" sz="2000" dirty="0">
                  <a:latin typeface="Montserrat" panose="00000500000000000000" pitchFamily="2" charset="-52"/>
                </a:rPr>
                <a:t> (</a:t>
              </a:r>
              <a:r>
                <a:rPr lang="ru-RU" sz="2000" dirty="0">
                  <a:latin typeface="Montserrat" panose="00000500000000000000" pitchFamily="2" charset="-52"/>
                </a:rPr>
                <a:t>пауза)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888A788-9B70-71D5-7002-07F1D6CF731A}"/>
                </a:ext>
              </a:extLst>
            </p:cNvPr>
            <p:cNvSpPr txBox="1"/>
            <p:nvPr/>
          </p:nvSpPr>
          <p:spPr>
            <a:xfrm>
              <a:off x="1189174" y="5670123"/>
              <a:ext cx="48081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/>
                <a:t>💀 </a:t>
              </a:r>
              <a:r>
                <a:rPr lang="en-US" sz="2000" dirty="0" err="1">
                  <a:latin typeface="Montserrat" panose="00000500000000000000" pitchFamily="2" charset="-52"/>
                </a:rPr>
                <a:t>RespawnScreen</a:t>
              </a:r>
              <a:r>
                <a:rPr lang="en-US" sz="2000" dirty="0">
                  <a:latin typeface="Montserrat" panose="00000500000000000000" pitchFamily="2" charset="-52"/>
                </a:rPr>
                <a:t> (</a:t>
              </a:r>
              <a:r>
                <a:rPr lang="ru-RU" sz="2000" dirty="0" err="1">
                  <a:latin typeface="Montserrat" panose="00000500000000000000" pitchFamily="2" charset="-52"/>
                </a:rPr>
                <a:t>респаун</a:t>
              </a:r>
              <a:r>
                <a:rPr lang="ru-RU" sz="2000" dirty="0">
                  <a:latin typeface="Montserrat" panose="00000500000000000000" pitchFamily="2" charset="-52"/>
                </a:rPr>
                <a:t>)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829CB5AE-9037-6087-547D-CE61CE55302A}"/>
              </a:ext>
            </a:extLst>
          </p:cNvPr>
          <p:cNvSpPr txBox="1"/>
          <p:nvPr/>
        </p:nvSpPr>
        <p:spPr>
          <a:xfrm>
            <a:off x="961584" y="1668358"/>
            <a:ext cx="1526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Montserrat" panose="00000500000000000000" pitchFamily="2" charset="-52"/>
              </a:rPr>
              <a:t>Классы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EBE0E7-1F3C-6BED-49E4-1D9ACA3E7CD6}"/>
              </a:ext>
            </a:extLst>
          </p:cNvPr>
          <p:cNvSpPr txBox="1"/>
          <p:nvPr/>
        </p:nvSpPr>
        <p:spPr>
          <a:xfrm>
            <a:off x="6460994" y="1718866"/>
            <a:ext cx="5961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Montserrat" panose="00000500000000000000" pitchFamily="2" charset="-52"/>
              </a:rPr>
              <a:t>Другие файлы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DF9879-2184-05F9-73EB-BA3DB7D2206C}"/>
              </a:ext>
            </a:extLst>
          </p:cNvPr>
          <p:cNvSpPr txBox="1"/>
          <p:nvPr/>
        </p:nvSpPr>
        <p:spPr>
          <a:xfrm>
            <a:off x="6403795" y="5418271"/>
            <a:ext cx="44386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📁  </a:t>
            </a:r>
            <a:r>
              <a:rPr lang="ru-RU" sz="2000" dirty="0">
                <a:latin typeface="Montserrat" panose="00000500000000000000" pitchFamily="2" charset="-52"/>
              </a:rPr>
              <a:t>папки с изображениями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9C04EC-191E-00D2-9F13-D1371DBE5121}"/>
              </a:ext>
            </a:extLst>
          </p:cNvPr>
          <p:cNvSpPr txBox="1"/>
          <p:nvPr/>
        </p:nvSpPr>
        <p:spPr>
          <a:xfrm>
            <a:off x="6408141" y="3045866"/>
            <a:ext cx="5123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💡 </a:t>
            </a:r>
            <a:r>
              <a:rPr lang="en-US" sz="2000" dirty="0">
                <a:latin typeface="Montserrat" panose="00000500000000000000" pitchFamily="2" charset="-52"/>
              </a:rPr>
              <a:t>dop_windows.py (</a:t>
            </a:r>
            <a:r>
              <a:rPr lang="ru-RU" sz="2000" dirty="0">
                <a:latin typeface="Montserrat" panose="00000500000000000000" pitchFamily="2" charset="-52"/>
              </a:rPr>
              <a:t>файл с классами дополнительных окон</a:t>
            </a:r>
            <a:r>
              <a:rPr lang="en-US" sz="2000" dirty="0">
                <a:latin typeface="Montserrat" panose="00000500000000000000" pitchFamily="2" charset="-52"/>
              </a:rPr>
              <a:t>)</a:t>
            </a:r>
            <a:endParaRPr lang="ru-RU" sz="2000" dirty="0">
              <a:latin typeface="Montserrat" panose="00000500000000000000" pitchFamily="2" charset="-5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36197E-0523-D777-1A2E-3B6C93C51909}"/>
              </a:ext>
            </a:extLst>
          </p:cNvPr>
          <p:cNvSpPr txBox="1"/>
          <p:nvPr/>
        </p:nvSpPr>
        <p:spPr>
          <a:xfrm>
            <a:off x="6403795" y="4735732"/>
            <a:ext cx="5638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⚠️ </a:t>
            </a:r>
            <a:r>
              <a:rPr lang="en-US" sz="2000" dirty="0" err="1">
                <a:latin typeface="Montserrat" panose="00000500000000000000" pitchFamily="2" charset="-52"/>
              </a:rPr>
              <a:t>game_save.json</a:t>
            </a:r>
            <a:r>
              <a:rPr lang="ru-RU" sz="2000" dirty="0">
                <a:latin typeface="Montserrat" panose="00000500000000000000" pitchFamily="2" charset="-52"/>
              </a:rPr>
              <a:t> </a:t>
            </a:r>
            <a:r>
              <a:rPr lang="en-US" sz="2000" dirty="0">
                <a:latin typeface="Montserrat" panose="00000500000000000000" pitchFamily="2" charset="-52"/>
              </a:rPr>
              <a:t>(</a:t>
            </a:r>
            <a:r>
              <a:rPr lang="ru-RU" sz="2000" dirty="0">
                <a:latin typeface="Montserrat" panose="00000500000000000000" pitchFamily="2" charset="-52"/>
              </a:rPr>
              <a:t>сохранение игры</a:t>
            </a:r>
            <a:r>
              <a:rPr lang="en-US" sz="2000" dirty="0">
                <a:latin typeface="Montserrat" panose="00000500000000000000" pitchFamily="2" charset="-52"/>
              </a:rPr>
              <a:t>)</a:t>
            </a:r>
            <a:endParaRPr lang="ru-RU" sz="2000" dirty="0">
              <a:latin typeface="Montserrat" panose="00000500000000000000" pitchFamily="2" charset="-5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518A2B-7F71-C7E0-EE30-034B2B11D75B}"/>
              </a:ext>
            </a:extLst>
          </p:cNvPr>
          <p:cNvSpPr txBox="1"/>
          <p:nvPr/>
        </p:nvSpPr>
        <p:spPr>
          <a:xfrm>
            <a:off x="6403795" y="4036181"/>
            <a:ext cx="5638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💡 </a:t>
            </a:r>
            <a:r>
              <a:rPr lang="en-US" sz="2000" dirty="0">
                <a:latin typeface="Montserrat" panose="00000500000000000000" pitchFamily="2" charset="-52"/>
              </a:rPr>
              <a:t>globals.py</a:t>
            </a:r>
            <a:r>
              <a:rPr lang="ru-RU" sz="2000" dirty="0">
                <a:latin typeface="Montserrat" panose="00000500000000000000" pitchFamily="2" charset="-52"/>
              </a:rPr>
              <a:t> (глобальные переменные)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D9CD04-FA0E-58CD-5AFD-A719F34DC101}"/>
              </a:ext>
            </a:extLst>
          </p:cNvPr>
          <p:cNvSpPr txBox="1"/>
          <p:nvPr/>
        </p:nvSpPr>
        <p:spPr>
          <a:xfrm>
            <a:off x="6403795" y="2427513"/>
            <a:ext cx="5638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💡 </a:t>
            </a:r>
            <a:r>
              <a:rPr lang="en-US" sz="2000" dirty="0">
                <a:latin typeface="Montserrat" panose="00000500000000000000" pitchFamily="2" charset="-52"/>
              </a:rPr>
              <a:t>main.py</a:t>
            </a:r>
            <a:r>
              <a:rPr lang="ru-RU" sz="2000" dirty="0">
                <a:latin typeface="Montserrat" panose="00000500000000000000" pitchFamily="2" charset="-52"/>
              </a:rPr>
              <a:t> (главный файл запуска)</a:t>
            </a:r>
          </a:p>
        </p:txBody>
      </p: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A16B5CF3-704A-8D98-3600-17A5BAB20BE2}"/>
              </a:ext>
            </a:extLst>
          </p:cNvPr>
          <p:cNvGrpSpPr/>
          <p:nvPr/>
        </p:nvGrpSpPr>
        <p:grpSpPr>
          <a:xfrm>
            <a:off x="0" y="-6423"/>
            <a:ext cx="12192000" cy="697038"/>
            <a:chOff x="0" y="0"/>
            <a:chExt cx="12192000" cy="697038"/>
          </a:xfrm>
        </p:grpSpPr>
        <p:sp>
          <p:nvSpPr>
            <p:cNvPr id="1024" name="Прямоугольник 1023">
              <a:extLst>
                <a:ext uri="{FF2B5EF4-FFF2-40B4-BE49-F238E27FC236}">
                  <a16:creationId xmlns:a16="http://schemas.microsoft.com/office/drawing/2014/main" id="{1D03BF6E-06CD-2BE4-CBAA-28DD8494F5C4}"/>
                </a:ext>
              </a:extLst>
            </p:cNvPr>
            <p:cNvSpPr/>
            <p:nvPr/>
          </p:nvSpPr>
          <p:spPr>
            <a:xfrm>
              <a:off x="0" y="0"/>
              <a:ext cx="12192000" cy="697038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025" name="Picture 8" descr="Picture background">
              <a:extLst>
                <a:ext uri="{FF2B5EF4-FFF2-40B4-BE49-F238E27FC236}">
                  <a16:creationId xmlns:a16="http://schemas.microsoft.com/office/drawing/2014/main" id="{CC67382E-4627-7818-AE4A-7890839C60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97" t="7618" r="8487" b="7687"/>
            <a:stretch>
              <a:fillRect/>
            </a:stretch>
          </p:blipFill>
          <p:spPr bwMode="auto">
            <a:xfrm>
              <a:off x="11629891" y="121101"/>
              <a:ext cx="412515" cy="4554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26" name="Группа 1025">
              <a:extLst>
                <a:ext uri="{FF2B5EF4-FFF2-40B4-BE49-F238E27FC236}">
                  <a16:creationId xmlns:a16="http://schemas.microsoft.com/office/drawing/2014/main" id="{412106D5-803E-B06E-B901-1CCEDE1D850A}"/>
                </a:ext>
              </a:extLst>
            </p:cNvPr>
            <p:cNvGrpSpPr/>
            <p:nvPr/>
          </p:nvGrpSpPr>
          <p:grpSpPr>
            <a:xfrm>
              <a:off x="9980681" y="121101"/>
              <a:ext cx="1499616" cy="455423"/>
              <a:chOff x="9980681" y="121101"/>
              <a:chExt cx="1499616" cy="455423"/>
            </a:xfrm>
          </p:grpSpPr>
          <p:sp>
            <p:nvSpPr>
              <p:cNvPr id="1041" name="Прямоугольник: скругленные углы 1040">
                <a:extLst>
                  <a:ext uri="{FF2B5EF4-FFF2-40B4-BE49-F238E27FC236}">
                    <a16:creationId xmlns:a16="http://schemas.microsoft.com/office/drawing/2014/main" id="{B7E11B2C-3627-BB74-8E16-154494624CE1}"/>
                  </a:ext>
                </a:extLst>
              </p:cNvPr>
              <p:cNvSpPr/>
              <p:nvPr/>
            </p:nvSpPr>
            <p:spPr>
              <a:xfrm>
                <a:off x="9980681" y="1211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42" name="TextBox 1041">
                <a:extLst>
                  <a:ext uri="{FF2B5EF4-FFF2-40B4-BE49-F238E27FC236}">
                    <a16:creationId xmlns:a16="http://schemas.microsoft.com/office/drawing/2014/main" id="{A8A4063A-825A-E9EE-4625-C61DF5520B67}"/>
                  </a:ext>
                </a:extLst>
              </p:cNvPr>
              <p:cNvSpPr txBox="1"/>
              <p:nvPr/>
            </p:nvSpPr>
            <p:spPr>
              <a:xfrm>
                <a:off x="10200943" y="16360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Вывод</a:t>
                </a:r>
              </a:p>
            </p:txBody>
          </p:sp>
        </p:grpSp>
        <p:grpSp>
          <p:nvGrpSpPr>
            <p:cNvPr id="1027" name="Группа 1026">
              <a:extLst>
                <a:ext uri="{FF2B5EF4-FFF2-40B4-BE49-F238E27FC236}">
                  <a16:creationId xmlns:a16="http://schemas.microsoft.com/office/drawing/2014/main" id="{F84ADD5F-A521-5344-42EB-2EB903286512}"/>
                </a:ext>
              </a:extLst>
            </p:cNvPr>
            <p:cNvGrpSpPr/>
            <p:nvPr/>
          </p:nvGrpSpPr>
          <p:grpSpPr>
            <a:xfrm>
              <a:off x="3426202" y="118800"/>
              <a:ext cx="1681850" cy="455423"/>
              <a:chOff x="3426202" y="118800"/>
              <a:chExt cx="1681850" cy="455423"/>
            </a:xfrm>
          </p:grpSpPr>
          <p:sp>
            <p:nvSpPr>
              <p:cNvPr id="1039" name="Прямоугольник: скругленные углы 1038">
                <a:extLst>
                  <a:ext uri="{FF2B5EF4-FFF2-40B4-BE49-F238E27FC236}">
                    <a16:creationId xmlns:a16="http://schemas.microsoft.com/office/drawing/2014/main" id="{60338040-BCD2-DF51-D9A3-7B44FC066629}"/>
                  </a:ext>
                </a:extLst>
              </p:cNvPr>
              <p:cNvSpPr/>
              <p:nvPr/>
            </p:nvSpPr>
            <p:spPr>
              <a:xfrm>
                <a:off x="3440324" y="118800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40" name="TextBox 1039">
                <a:extLst>
                  <a:ext uri="{FF2B5EF4-FFF2-40B4-BE49-F238E27FC236}">
                    <a16:creationId xmlns:a16="http://schemas.microsoft.com/office/drawing/2014/main" id="{C3486AB9-278A-3BD8-6C1A-FF6081064B7D}"/>
                  </a:ext>
                </a:extLst>
              </p:cNvPr>
              <p:cNvSpPr txBox="1"/>
              <p:nvPr/>
            </p:nvSpPr>
            <p:spPr>
              <a:xfrm>
                <a:off x="3426202" y="171900"/>
                <a:ext cx="1681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Введение</a:t>
                </a:r>
              </a:p>
            </p:txBody>
          </p:sp>
        </p:grpSp>
        <p:grpSp>
          <p:nvGrpSpPr>
            <p:cNvPr id="1028" name="Группа 1027">
              <a:extLst>
                <a:ext uri="{FF2B5EF4-FFF2-40B4-BE49-F238E27FC236}">
                  <a16:creationId xmlns:a16="http://schemas.microsoft.com/office/drawing/2014/main" id="{7EE6DBF6-6BD6-F288-86B4-B5E13DECFEB7}"/>
                </a:ext>
              </a:extLst>
            </p:cNvPr>
            <p:cNvGrpSpPr/>
            <p:nvPr/>
          </p:nvGrpSpPr>
          <p:grpSpPr>
            <a:xfrm>
              <a:off x="6710502" y="120807"/>
              <a:ext cx="1584404" cy="455423"/>
              <a:chOff x="6710502" y="120807"/>
              <a:chExt cx="1584404" cy="455423"/>
            </a:xfrm>
          </p:grpSpPr>
          <p:sp>
            <p:nvSpPr>
              <p:cNvPr id="1037" name="Прямоугольник: скругленные углы 1036">
                <a:extLst>
                  <a:ext uri="{FF2B5EF4-FFF2-40B4-BE49-F238E27FC236}">
                    <a16:creationId xmlns:a16="http://schemas.microsoft.com/office/drawing/2014/main" id="{6D3C271D-30EC-CDB0-4559-AF437073FA19}"/>
                  </a:ext>
                </a:extLst>
              </p:cNvPr>
              <p:cNvSpPr/>
              <p:nvPr/>
            </p:nvSpPr>
            <p:spPr>
              <a:xfrm>
                <a:off x="6710502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38" name="TextBox 1037">
                <a:extLst>
                  <a:ext uri="{FF2B5EF4-FFF2-40B4-BE49-F238E27FC236}">
                    <a16:creationId xmlns:a16="http://schemas.microsoft.com/office/drawing/2014/main" id="{1131E814-5A5C-94A6-D86F-95ED77BFF3ED}"/>
                  </a:ext>
                </a:extLst>
              </p:cNvPr>
              <p:cNvSpPr txBox="1"/>
              <p:nvPr/>
            </p:nvSpPr>
            <p:spPr>
              <a:xfrm>
                <a:off x="6795291" y="143041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Функции</a:t>
                </a:r>
              </a:p>
            </p:txBody>
          </p:sp>
        </p:grpSp>
        <p:grpSp>
          <p:nvGrpSpPr>
            <p:cNvPr id="1029" name="Группа 1028">
              <a:extLst>
                <a:ext uri="{FF2B5EF4-FFF2-40B4-BE49-F238E27FC236}">
                  <a16:creationId xmlns:a16="http://schemas.microsoft.com/office/drawing/2014/main" id="{2BD6BFDB-4953-C537-550B-F76B54E97E2C}"/>
                </a:ext>
              </a:extLst>
            </p:cNvPr>
            <p:cNvGrpSpPr/>
            <p:nvPr/>
          </p:nvGrpSpPr>
          <p:grpSpPr>
            <a:xfrm>
              <a:off x="5075413" y="118801"/>
              <a:ext cx="1524958" cy="455423"/>
              <a:chOff x="5075413" y="118801"/>
              <a:chExt cx="1524958" cy="455423"/>
            </a:xfrm>
          </p:grpSpPr>
          <p:sp>
            <p:nvSpPr>
              <p:cNvPr id="1035" name="Прямоугольник: скругленные углы 1034">
                <a:extLst>
                  <a:ext uri="{FF2B5EF4-FFF2-40B4-BE49-F238E27FC236}">
                    <a16:creationId xmlns:a16="http://schemas.microsoft.com/office/drawing/2014/main" id="{A4F73B5E-E9D7-6D68-E89C-FF8B63EB8D7C}"/>
                  </a:ext>
                </a:extLst>
              </p:cNvPr>
              <p:cNvSpPr/>
              <p:nvPr/>
            </p:nvSpPr>
            <p:spPr>
              <a:xfrm>
                <a:off x="5075413" y="1188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036" name="TextBox 1035">
                <a:extLst>
                  <a:ext uri="{FF2B5EF4-FFF2-40B4-BE49-F238E27FC236}">
                    <a16:creationId xmlns:a16="http://schemas.microsoft.com/office/drawing/2014/main" id="{11656C8E-3A00-AFC3-4883-4A67B7267F72}"/>
                  </a:ext>
                </a:extLst>
              </p:cNvPr>
              <p:cNvSpPr txBox="1"/>
              <p:nvPr/>
            </p:nvSpPr>
            <p:spPr>
              <a:xfrm>
                <a:off x="5393363" y="14304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Окна</a:t>
                </a:r>
              </a:p>
            </p:txBody>
          </p:sp>
        </p:grpSp>
        <p:pic>
          <p:nvPicPr>
            <p:cNvPr id="1030" name="Рисунок 1029">
              <a:extLst>
                <a:ext uri="{FF2B5EF4-FFF2-40B4-BE49-F238E27FC236}">
                  <a16:creationId xmlns:a16="http://schemas.microsoft.com/office/drawing/2014/main" id="{16133C25-E783-D551-98A4-6F1C5562F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63" y="132823"/>
              <a:ext cx="1562377" cy="400110"/>
            </a:xfrm>
            <a:prstGeom prst="rect">
              <a:avLst/>
            </a:prstGeom>
          </p:spPr>
        </p:pic>
        <p:grpSp>
          <p:nvGrpSpPr>
            <p:cNvPr id="1031" name="Группа 1030">
              <a:extLst>
                <a:ext uri="{FF2B5EF4-FFF2-40B4-BE49-F238E27FC236}">
                  <a16:creationId xmlns:a16="http://schemas.microsoft.com/office/drawing/2014/main" id="{216535A4-A93D-9241-7998-1F33FEB49729}"/>
                </a:ext>
              </a:extLst>
            </p:cNvPr>
            <p:cNvGrpSpPr/>
            <p:nvPr/>
          </p:nvGrpSpPr>
          <p:grpSpPr>
            <a:xfrm>
              <a:off x="8345591" y="120807"/>
              <a:ext cx="1676011" cy="455423"/>
              <a:chOff x="8345591" y="120807"/>
              <a:chExt cx="1676011" cy="455423"/>
            </a:xfrm>
          </p:grpSpPr>
          <p:sp>
            <p:nvSpPr>
              <p:cNvPr id="1033" name="Прямоугольник: скругленные углы 1032">
                <a:extLst>
                  <a:ext uri="{FF2B5EF4-FFF2-40B4-BE49-F238E27FC236}">
                    <a16:creationId xmlns:a16="http://schemas.microsoft.com/office/drawing/2014/main" id="{3CC97E75-8276-7923-C12D-0528AC9B5ADB}"/>
                  </a:ext>
                </a:extLst>
              </p:cNvPr>
              <p:cNvSpPr/>
              <p:nvPr/>
            </p:nvSpPr>
            <p:spPr>
              <a:xfrm>
                <a:off x="8345591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/>
              </a:solidFill>
              <a:ln w="25400">
                <a:solidFill>
                  <a:srgbClr val="8A8A8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34" name="TextBox 1033">
                <a:extLst>
                  <a:ext uri="{FF2B5EF4-FFF2-40B4-BE49-F238E27FC236}">
                    <a16:creationId xmlns:a16="http://schemas.microsoft.com/office/drawing/2014/main" id="{EA7B958F-90FE-4186-F9D2-68D4AC5DE86A}"/>
                  </a:ext>
                </a:extLst>
              </p:cNvPr>
              <p:cNvSpPr txBox="1"/>
              <p:nvPr/>
            </p:nvSpPr>
            <p:spPr>
              <a:xfrm>
                <a:off x="8521987" y="161845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Файлы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7351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331FE-5A07-CD17-B9A4-29B42FEFB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995A133A-C78A-9E6B-6AFE-449FDFEBFF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2" r="12572"/>
          <a:stretch>
            <a:fillRect/>
          </a:stretch>
        </p:blipFill>
        <p:spPr bwMode="auto">
          <a:xfrm>
            <a:off x="9738118" y="3133344"/>
            <a:ext cx="2304288" cy="333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9ADBB0-8E14-95E0-3E1C-E5A63A9EB091}"/>
              </a:ext>
            </a:extLst>
          </p:cNvPr>
          <p:cNvSpPr txBox="1"/>
          <p:nvPr/>
        </p:nvSpPr>
        <p:spPr>
          <a:xfrm>
            <a:off x="4766738" y="985712"/>
            <a:ext cx="2929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Minecraft" panose="00000400000000000000" pitchFamily="2" charset="0"/>
              </a:rPr>
              <a:t>Заключение </a:t>
            </a:r>
          </a:p>
        </p:txBody>
      </p:sp>
      <p:pic>
        <p:nvPicPr>
          <p:cNvPr id="4100" name="Picture 4" descr="Picture background">
            <a:extLst>
              <a:ext uri="{FF2B5EF4-FFF2-40B4-BE49-F238E27FC236}">
                <a16:creationId xmlns:a16="http://schemas.microsoft.com/office/drawing/2014/main" id="{53FDADA2-9F47-0E14-DB30-387CAB897B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3" t="4571" r="13166"/>
          <a:stretch>
            <a:fillRect/>
          </a:stretch>
        </p:blipFill>
        <p:spPr bwMode="auto">
          <a:xfrm>
            <a:off x="280416" y="3119404"/>
            <a:ext cx="2414016" cy="334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3554B7-C097-3DF8-03C4-102286209EFE}"/>
              </a:ext>
            </a:extLst>
          </p:cNvPr>
          <p:cNvSpPr txBox="1"/>
          <p:nvPr/>
        </p:nvSpPr>
        <p:spPr>
          <a:xfrm>
            <a:off x="3622552" y="1797606"/>
            <a:ext cx="5650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Успешно реализованы основные механики </a:t>
            </a:r>
            <a:r>
              <a:rPr lang="ru-RU" sz="2400" dirty="0" err="1">
                <a:latin typeface="Montserrat" panose="00000500000000000000" pitchFamily="2" charset="-52"/>
              </a:rPr>
              <a:t>Minecraft</a:t>
            </a:r>
            <a:endParaRPr lang="ru-RU" sz="2400" dirty="0">
              <a:latin typeface="Montserrat" panose="00000500000000000000" pitchFamily="2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ABABE-DE17-D404-0532-359544C308BC}"/>
              </a:ext>
            </a:extLst>
          </p:cNvPr>
          <p:cNvSpPr txBox="1"/>
          <p:nvPr/>
        </p:nvSpPr>
        <p:spPr>
          <a:xfrm>
            <a:off x="3622552" y="3207804"/>
            <a:ext cx="5650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Полноценная система сохранения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74A978-BFE7-000F-D41E-53A5E273AA56}"/>
              </a:ext>
            </a:extLst>
          </p:cNvPr>
          <p:cNvSpPr txBox="1"/>
          <p:nvPr/>
        </p:nvSpPr>
        <p:spPr>
          <a:xfrm>
            <a:off x="3622552" y="4618002"/>
            <a:ext cx="5650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Удобный интерфейс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A1C1E7-441D-CF3A-FEE4-BEFE7E5C5F51}"/>
              </a:ext>
            </a:extLst>
          </p:cNvPr>
          <p:cNvSpPr txBox="1"/>
          <p:nvPr/>
        </p:nvSpPr>
        <p:spPr>
          <a:xfrm>
            <a:off x="3622552" y="5658868"/>
            <a:ext cx="5650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Расширяемая система крафта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0194C255-95F6-4F6D-6046-E3A76CA109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3142790" y="5724769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9EBDF783-D87D-4BD1-A40B-C0DFFCC5B7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3142791" y="4683903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B016EC22-03E3-EAAF-2F9A-622599259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3142792" y="3458371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>
            <a:extLst>
              <a:ext uri="{FF2B5EF4-FFF2-40B4-BE49-F238E27FC236}">
                <a16:creationId xmlns:a16="http://schemas.microsoft.com/office/drawing/2014/main" id="{B009D9E4-392F-3892-1BD0-5C7CB6A4BC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62" t="26472" r="42097" b="44581"/>
          <a:stretch>
            <a:fillRect/>
          </a:stretch>
        </p:blipFill>
        <p:spPr bwMode="auto">
          <a:xfrm>
            <a:off x="3142789" y="2048173"/>
            <a:ext cx="344993" cy="329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093F19FF-BFFA-FE9B-4CDC-AA4766F81694}"/>
              </a:ext>
            </a:extLst>
          </p:cNvPr>
          <p:cNvGrpSpPr/>
          <p:nvPr/>
        </p:nvGrpSpPr>
        <p:grpSpPr>
          <a:xfrm>
            <a:off x="0" y="0"/>
            <a:ext cx="12192000" cy="697038"/>
            <a:chOff x="0" y="0"/>
            <a:chExt cx="12192000" cy="697038"/>
          </a:xfrm>
        </p:grpSpPr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3590C5F6-80D6-42F4-4C33-B8EA5DC43DD7}"/>
                </a:ext>
              </a:extLst>
            </p:cNvPr>
            <p:cNvSpPr/>
            <p:nvPr/>
          </p:nvSpPr>
          <p:spPr>
            <a:xfrm>
              <a:off x="0" y="0"/>
              <a:ext cx="12192000" cy="697038"/>
            </a:xfrm>
            <a:prstGeom prst="rect">
              <a:avLst/>
            </a:prstGeom>
            <a:solidFill>
              <a:srgbClr val="8A8A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34" name="Picture 8" descr="Picture background">
              <a:extLst>
                <a:ext uri="{FF2B5EF4-FFF2-40B4-BE49-F238E27FC236}">
                  <a16:creationId xmlns:a16="http://schemas.microsoft.com/office/drawing/2014/main" id="{091E6988-F24B-933D-89D3-A160D203C1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97" t="7618" r="8487" b="7687"/>
            <a:stretch>
              <a:fillRect/>
            </a:stretch>
          </p:blipFill>
          <p:spPr bwMode="auto">
            <a:xfrm>
              <a:off x="11629891" y="121101"/>
              <a:ext cx="412515" cy="4554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AA8A97EE-A370-F28D-B419-D478F9169724}"/>
                </a:ext>
              </a:extLst>
            </p:cNvPr>
            <p:cNvGrpSpPr/>
            <p:nvPr/>
          </p:nvGrpSpPr>
          <p:grpSpPr>
            <a:xfrm>
              <a:off x="9980681" y="121101"/>
              <a:ext cx="1499616" cy="455423"/>
              <a:chOff x="9980681" y="121101"/>
              <a:chExt cx="1499616" cy="455423"/>
            </a:xfrm>
          </p:grpSpPr>
          <p:sp>
            <p:nvSpPr>
              <p:cNvPr id="56" name="Прямоугольник: скругленные углы 55">
                <a:extLst>
                  <a:ext uri="{FF2B5EF4-FFF2-40B4-BE49-F238E27FC236}">
                    <a16:creationId xmlns:a16="http://schemas.microsoft.com/office/drawing/2014/main" id="{D12437DE-0F57-1EA9-89C0-B1C852A61766}"/>
                  </a:ext>
                </a:extLst>
              </p:cNvPr>
              <p:cNvSpPr/>
              <p:nvPr/>
            </p:nvSpPr>
            <p:spPr>
              <a:xfrm>
                <a:off x="9980681" y="1211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/>
              </a:solidFill>
              <a:ln w="25400">
                <a:solidFill>
                  <a:srgbClr val="8A8A8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B4C5001-6940-F979-6B98-371A2C7EEFDA}"/>
                  </a:ext>
                </a:extLst>
              </p:cNvPr>
              <p:cNvSpPr txBox="1"/>
              <p:nvPr/>
            </p:nvSpPr>
            <p:spPr>
              <a:xfrm>
                <a:off x="10200943" y="16360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Вывод</a:t>
                </a:r>
              </a:p>
            </p:txBody>
          </p:sp>
        </p:grpSp>
        <p:grpSp>
          <p:nvGrpSpPr>
            <p:cNvPr id="36" name="Группа 35">
              <a:extLst>
                <a:ext uri="{FF2B5EF4-FFF2-40B4-BE49-F238E27FC236}">
                  <a16:creationId xmlns:a16="http://schemas.microsoft.com/office/drawing/2014/main" id="{399617C8-83D4-D8BA-4636-A69772977FD7}"/>
                </a:ext>
              </a:extLst>
            </p:cNvPr>
            <p:cNvGrpSpPr/>
            <p:nvPr/>
          </p:nvGrpSpPr>
          <p:grpSpPr>
            <a:xfrm>
              <a:off x="3426202" y="118800"/>
              <a:ext cx="1681850" cy="455423"/>
              <a:chOff x="3426202" y="118800"/>
              <a:chExt cx="1681850" cy="455423"/>
            </a:xfrm>
          </p:grpSpPr>
          <p:sp>
            <p:nvSpPr>
              <p:cNvPr id="47" name="Прямоугольник: скругленные углы 46">
                <a:extLst>
                  <a:ext uri="{FF2B5EF4-FFF2-40B4-BE49-F238E27FC236}">
                    <a16:creationId xmlns:a16="http://schemas.microsoft.com/office/drawing/2014/main" id="{C2485D8B-E821-14D0-D4A1-EC855E84E8B1}"/>
                  </a:ext>
                </a:extLst>
              </p:cNvPr>
              <p:cNvSpPr/>
              <p:nvPr/>
            </p:nvSpPr>
            <p:spPr>
              <a:xfrm>
                <a:off x="3440324" y="118800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C1F9336-060D-2D17-5969-22589114BCD5}"/>
                  </a:ext>
                </a:extLst>
              </p:cNvPr>
              <p:cNvSpPr txBox="1"/>
              <p:nvPr/>
            </p:nvSpPr>
            <p:spPr>
              <a:xfrm>
                <a:off x="3426202" y="171900"/>
                <a:ext cx="1681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Введение</a:t>
                </a:r>
              </a:p>
            </p:txBody>
          </p:sp>
        </p:grpSp>
        <p:grpSp>
          <p:nvGrpSpPr>
            <p:cNvPr id="37" name="Группа 36">
              <a:extLst>
                <a:ext uri="{FF2B5EF4-FFF2-40B4-BE49-F238E27FC236}">
                  <a16:creationId xmlns:a16="http://schemas.microsoft.com/office/drawing/2014/main" id="{0423986E-CA9A-1194-E40E-C00D18B63CC4}"/>
                </a:ext>
              </a:extLst>
            </p:cNvPr>
            <p:cNvGrpSpPr/>
            <p:nvPr/>
          </p:nvGrpSpPr>
          <p:grpSpPr>
            <a:xfrm>
              <a:off x="6710502" y="120807"/>
              <a:ext cx="1584404" cy="455423"/>
              <a:chOff x="6710502" y="120807"/>
              <a:chExt cx="1584404" cy="455423"/>
            </a:xfrm>
          </p:grpSpPr>
          <p:sp>
            <p:nvSpPr>
              <p:cNvPr id="45" name="Прямоугольник: скругленные углы 44">
                <a:extLst>
                  <a:ext uri="{FF2B5EF4-FFF2-40B4-BE49-F238E27FC236}">
                    <a16:creationId xmlns:a16="http://schemas.microsoft.com/office/drawing/2014/main" id="{4002AE31-E978-6CA4-0837-1C1E668F4A52}"/>
                  </a:ext>
                </a:extLst>
              </p:cNvPr>
              <p:cNvSpPr/>
              <p:nvPr/>
            </p:nvSpPr>
            <p:spPr>
              <a:xfrm>
                <a:off x="6710502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18A436A-4B8F-E658-6282-55BF78591DBC}"/>
                  </a:ext>
                </a:extLst>
              </p:cNvPr>
              <p:cNvSpPr txBox="1"/>
              <p:nvPr/>
            </p:nvSpPr>
            <p:spPr>
              <a:xfrm>
                <a:off x="6795291" y="143041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Функции</a:t>
                </a:r>
              </a:p>
            </p:txBody>
          </p:sp>
        </p:grpSp>
        <p:grpSp>
          <p:nvGrpSpPr>
            <p:cNvPr id="38" name="Группа 37">
              <a:extLst>
                <a:ext uri="{FF2B5EF4-FFF2-40B4-BE49-F238E27FC236}">
                  <a16:creationId xmlns:a16="http://schemas.microsoft.com/office/drawing/2014/main" id="{E3E3760A-FF50-64CE-19C1-BE06BACBEE36}"/>
                </a:ext>
              </a:extLst>
            </p:cNvPr>
            <p:cNvGrpSpPr/>
            <p:nvPr/>
          </p:nvGrpSpPr>
          <p:grpSpPr>
            <a:xfrm>
              <a:off x="5075413" y="118801"/>
              <a:ext cx="1524958" cy="455423"/>
              <a:chOff x="5075413" y="118801"/>
              <a:chExt cx="1524958" cy="455423"/>
            </a:xfrm>
          </p:grpSpPr>
          <p:sp>
            <p:nvSpPr>
              <p:cNvPr id="43" name="Прямоугольник: скругленные углы 42">
                <a:extLst>
                  <a:ext uri="{FF2B5EF4-FFF2-40B4-BE49-F238E27FC236}">
                    <a16:creationId xmlns:a16="http://schemas.microsoft.com/office/drawing/2014/main" id="{34AD1BD2-A443-E03B-6A95-4F9620F97239}"/>
                  </a:ext>
                </a:extLst>
              </p:cNvPr>
              <p:cNvSpPr/>
              <p:nvPr/>
            </p:nvSpPr>
            <p:spPr>
              <a:xfrm>
                <a:off x="5075413" y="118801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A00B98D-F953-8039-B9E0-5C43DC1C144F}"/>
                  </a:ext>
                </a:extLst>
              </p:cNvPr>
              <p:cNvSpPr txBox="1"/>
              <p:nvPr/>
            </p:nvSpPr>
            <p:spPr>
              <a:xfrm>
                <a:off x="5393363" y="143041"/>
                <a:ext cx="120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Окна</a:t>
                </a:r>
              </a:p>
            </p:txBody>
          </p:sp>
        </p:grp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3FD6AE1C-05ED-E489-75F7-41C8EC445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63" y="132823"/>
              <a:ext cx="1562377" cy="400110"/>
            </a:xfrm>
            <a:prstGeom prst="rect">
              <a:avLst/>
            </a:prstGeom>
          </p:spPr>
        </p:pic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2154A7DD-573B-E82F-7E7C-EAE14C75A79A}"/>
                </a:ext>
              </a:extLst>
            </p:cNvPr>
            <p:cNvGrpSpPr/>
            <p:nvPr/>
          </p:nvGrpSpPr>
          <p:grpSpPr>
            <a:xfrm>
              <a:off x="8345591" y="120807"/>
              <a:ext cx="1676011" cy="455423"/>
              <a:chOff x="8345591" y="120807"/>
              <a:chExt cx="1676011" cy="455423"/>
            </a:xfrm>
          </p:grpSpPr>
          <p:sp>
            <p:nvSpPr>
              <p:cNvPr id="41" name="Прямоугольник: скругленные углы 40">
                <a:extLst>
                  <a:ext uri="{FF2B5EF4-FFF2-40B4-BE49-F238E27FC236}">
                    <a16:creationId xmlns:a16="http://schemas.microsoft.com/office/drawing/2014/main" id="{04D4E46E-12CD-3BB2-1EC6-080ACC58BCFF}"/>
                  </a:ext>
                </a:extLst>
              </p:cNvPr>
              <p:cNvSpPr/>
              <p:nvPr/>
            </p:nvSpPr>
            <p:spPr>
              <a:xfrm>
                <a:off x="8345591" y="120807"/>
                <a:ext cx="1499616" cy="455423"/>
              </a:xfrm>
              <a:prstGeom prst="roundRect">
                <a:avLst>
                  <a:gd name="adj" fmla="val 11313"/>
                </a:avLst>
              </a:prstGeom>
              <a:solidFill>
                <a:srgbClr val="D4D4D4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F00D7D4-499B-C6ED-CFAC-221713C75B0A}"/>
                  </a:ext>
                </a:extLst>
              </p:cNvPr>
              <p:cNvSpPr txBox="1"/>
              <p:nvPr/>
            </p:nvSpPr>
            <p:spPr>
              <a:xfrm>
                <a:off x="8521987" y="161845"/>
                <a:ext cx="14996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latin typeface="Minecraft" panose="00000400000000000000" pitchFamily="2" charset="0"/>
                  </a:rPr>
                  <a:t>Файлы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2209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13F03E40-9585-AFD3-101F-A9F4C944C6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6" b="8154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6CF4D33-D6CD-E45C-C186-7D393C51586D}"/>
              </a:ext>
            </a:extLst>
          </p:cNvPr>
          <p:cNvSpPr/>
          <p:nvPr/>
        </p:nvSpPr>
        <p:spPr>
          <a:xfrm>
            <a:off x="-2" y="0"/>
            <a:ext cx="12192000" cy="6857999"/>
          </a:xfrm>
          <a:prstGeom prst="rect">
            <a:avLst/>
          </a:prstGeom>
          <a:solidFill>
            <a:schemeClr val="bg1">
              <a:alpha val="4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EC4B94-4F20-CCC4-12EF-B4D22FF2386D}"/>
              </a:ext>
            </a:extLst>
          </p:cNvPr>
          <p:cNvSpPr txBox="1"/>
          <p:nvPr/>
        </p:nvSpPr>
        <p:spPr>
          <a:xfrm>
            <a:off x="3293890" y="2176590"/>
            <a:ext cx="6787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Minecraft" panose="00000400000000000000" pitchFamily="2" charset="0"/>
              </a:rPr>
              <a:t>Спасибо за внимание!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F64860A-9094-ECFB-EB5F-5C0559DD5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07" y="3763108"/>
            <a:ext cx="2695783" cy="2877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22570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279</Words>
  <Application>Microsoft Office PowerPoint</Application>
  <PresentationFormat>Широкоэкранный</PresentationFormat>
  <Paragraphs>107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Minecraft</vt:lpstr>
      <vt:lpstr>Montserrat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Lena</dc:creator>
  <cp:lastModifiedBy>Lena</cp:lastModifiedBy>
  <cp:revision>5</cp:revision>
  <dcterms:created xsi:type="dcterms:W3CDTF">2026-02-10T16:49:33Z</dcterms:created>
  <dcterms:modified xsi:type="dcterms:W3CDTF">2026-02-16T19:35:38Z</dcterms:modified>
</cp:coreProperties>
</file>